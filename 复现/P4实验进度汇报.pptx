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A5C4"/>
                </a:solidFill>
                <a:latin typeface="Microsoft YaHei"/>
              </a:rPr>
              <a:t>SpeakerMem-R1 · 实验进度汇报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P4 梯队①：复现 baseline —— 从「纸面」到「真实可跑」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</a:rPr>
              <a:t>三个多方 benchmark 已就位 · DeepSeek 已接入 · BM25 已真实出数 · Mem0 全链路打通并优化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2026-06-09　｜　实验机：本机（无 GPU，LLM=DeepSeek deepseek-v4-flash）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Microsoft YaHei"/>
              </a:rPr>
              <a:t>TL;DR · 一页纸结论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E293B"/>
                </a:solidFill>
                <a:latin typeface="Microsoft YaHei"/>
              </a:rPr>
              <a:t>本阶段把「一行实验没跑」变成「baseline 真实出数」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4415" cy="777240"/>
          </a:xfrm>
          <a:prstGeom prst="rect">
            <a:avLst/>
          </a:prstGeom>
          <a:solidFill>
            <a:srgbClr val="E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</a:rPr>
              <a:t>实验环境搭好、</a:t>
            </a:r>
            <a:r>
              <a:rPr sz="1500" b="1">
                <a:solidFill>
                  <a:srgbClr val="0E7490"/>
                </a:solidFill>
                <a:latin typeface="Microsoft YaHei"/>
              </a:rPr>
              <a:t>三个多方 benchmark 数据全部到位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、LLM 接入 </a:t>
            </a:r>
            <a:r>
              <a:rPr sz="1500" b="1">
                <a:solidFill>
                  <a:srgbClr val="0E7490"/>
                </a:solidFill>
                <a:latin typeface="Microsoft YaHei"/>
              </a:rPr>
              <a:t>DeepSeek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，</a:t>
            </a:r>
            <a:r>
              <a:rPr sz="1500" b="1">
                <a:solidFill>
                  <a:srgbClr val="0E7490"/>
                </a:solidFill>
                <a:latin typeface="Microsoft YaHei"/>
              </a:rPr>
              <a:t>BM25 baseline 已真实出数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，</a:t>
            </a:r>
            <a:r>
              <a:rPr sz="1500" b="1">
                <a:solidFill>
                  <a:srgbClr val="0E7490"/>
                </a:solidFill>
                <a:latin typeface="Microsoft YaHei"/>
              </a:rPr>
              <a:t>Mem0 baseline 全链路打通并完成性能优化。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2650159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73152" cy="1371600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24328"/>
            <a:ext cx="2284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0EA5C4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22843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数据集就位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83864"/>
            <a:ext cx="2266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Group/Social/EverMemBench，共 4176 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3391" y="2514600"/>
            <a:ext cx="2650159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251460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4559" y="2624328"/>
            <a:ext cx="2284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6A34A"/>
                </a:solidFill>
                <a:latin typeface="Arial Black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4559" y="3172968"/>
            <a:ext cx="22843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BM25 出数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559" y="3483864"/>
            <a:ext cx="2266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Finance/multi_hop 20题，对齐论文≈38.2%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2514600"/>
            <a:ext cx="2650159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2514600"/>
            <a:ext cx="73152" cy="13716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2624328"/>
            <a:ext cx="2284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E08A1E"/>
                </a:solidFill>
                <a:latin typeface="Arial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3172968"/>
            <a:ext cx="22843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Mem0 管线通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483864"/>
            <a:ext cx="2266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抽取→检索→QA→judge 全链路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2895" y="2514600"/>
            <a:ext cx="2650159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2895" y="2514600"/>
            <a:ext cx="73152" cy="1371600"/>
          </a:xfrm>
          <a:prstGeom prst="rect">
            <a:avLst/>
          </a:prstGeom>
          <a:solidFill>
            <a:srgbClr val="273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4063" y="2624328"/>
            <a:ext cx="2284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27347A"/>
                </a:solidFill>
                <a:latin typeface="Arial Black"/>
              </a:rPr>
              <a:t>700×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063" y="3172968"/>
            <a:ext cx="22843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Mem0 提速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3" y="3483864"/>
            <a:ext cx="2266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检索 14.5s→0.02s（修线程超额订阅）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11094415" cy="868680"/>
          </a:xfrm>
          <a:prstGeom prst="rect">
            <a:avLst/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6372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Microsoft YaHei"/>
              </a:rPr>
              <a:t>意义：</a:t>
            </a:r>
            <a:r>
              <a:rPr sz="1200" b="0">
                <a:solidFill>
                  <a:srgbClr val="334155"/>
                </a:solidFill>
                <a:latin typeface="Microsoft YaHei"/>
              </a:rPr>
              <a:t>这是距「强提交/Highlight」唯一差距（真实实验）的实质性突破——评测 pipeline 已被真实数据与真实 LLM 跑通。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Microsoft YaHei"/>
              </a:rPr>
              <a:t>约束：</a:t>
            </a:r>
            <a:r>
              <a:rPr sz="1200" b="0">
                <a:solidFill>
                  <a:srgbClr val="334155"/>
                </a:solidFill>
                <a:latin typeface="Microsoft YaHei"/>
              </a:rPr>
              <a:t>暂无 GPU（P5 训练前置，申请中）；未经允许不真实调用 API；判分用 DeepSeek 与论文 gpt-5 有偏移（相对比较成立）。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A5C4"/>
                </a:solidFill>
                <a:latin typeface="Microsoft YaHei"/>
              </a:rPr>
              <a:t>环境 &amp;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E293B"/>
                </a:solidFill>
                <a:latin typeface="Microsoft YaHei"/>
              </a:rPr>
              <a:t>三个多方 benchmark 数据全部到位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GroupMemBench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32888"/>
            <a:ext cx="22860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3288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SocialMemBench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99815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99815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EverMemBench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508760"/>
            <a:ext cx="4572000" cy="457200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150876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来源（真实地址）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965960"/>
            <a:ext cx="4572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965960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github UCSB-NLP-Chang（数据在仓库内）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532888"/>
            <a:ext cx="45720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2532888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HF anon4data/socialmembench + 4open.science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099815"/>
            <a:ext cx="4572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3099815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github EverMind-AI + HF EverMemBench-Dynamic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508760"/>
            <a:ext cx="2834640" cy="457200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7" y="150876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规模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965960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7" y="196596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4 领域 × ~3万消息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532888"/>
            <a:ext cx="283464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7" y="2532888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43 网络 / 7355 轮 / 430 人设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099815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7" y="3099815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1263 对话块 / 170 人设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1508760"/>
            <a:ext cx="1389888" cy="457200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1007" y="150876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题数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965960"/>
            <a:ext cx="13898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51007" y="1965960"/>
            <a:ext cx="12070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745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2532888"/>
            <a:ext cx="1389888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1007" y="2532888"/>
            <a:ext cx="12070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1031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3099815"/>
            <a:ext cx="138988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1007" y="3099815"/>
            <a:ext cx="12070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2400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160520"/>
            <a:ext cx="106372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490"/>
                </a:solidFill>
                <a:latin typeface="Microsoft YaHei"/>
              </a:rPr>
              <a:t>运行环境：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本机无 pip 的系统 python → 用 /opt/conda 建 venv；暂无 GPU；依赖齐全（rank-bm25 / mem0ai 2.0.4 / sentence-transformers / chromadb / torch-CPU）。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C4A52"/>
                </a:solidFill>
                <a:latin typeface="Microsoft YaHei"/>
              </a:rPr>
              <a:t>⚠ 纠错：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项目自带 evaluation.py / 旧文档里的 HF 地址是错的占位符，以上才是真实可下载地址（已记入 CLAUDE.md 与记忆）。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A5C4"/>
                </a:solidFill>
                <a:latin typeface="Microsoft YaHei"/>
              </a:rPr>
              <a:t>评测流程（统一）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E293B"/>
                </a:solidFill>
                <a:latin typeface="Microsoft YaHei"/>
              </a:rPr>
              <a:t>检索 → 作答 → 判分，按类别统计准确率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572768" cy="1280160"/>
          </a:xfrm>
          <a:prstGeom prst="rect">
            <a:avLst/>
          </a:prstGeom>
          <a:solidFill>
            <a:srgbClr val="E0F4F9"/>
          </a:solidFill>
          <a:ln w="952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7490"/>
                </a:solidFill>
                <a:latin typeface="Microsoft YaHei"/>
              </a:rPr>
              <a:t>①读对话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整段群聊 按时间排序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368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2969" y="2011680"/>
            <a:ext cx="1572768" cy="1280160"/>
          </a:xfrm>
          <a:prstGeom prst="rect">
            <a:avLst/>
          </a:prstGeom>
          <a:solidFill>
            <a:srgbClr val="E0F4F9"/>
          </a:solidFill>
          <a:ln w="952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4409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7490"/>
                </a:solidFill>
                <a:latin typeface="Microsoft YaHei"/>
              </a:rPr>
              <a:t>②建索引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4409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BM25：消息正文 切词建库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449" y="2423160"/>
            <a:ext cx="368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7298" y="2011680"/>
            <a:ext cx="1572768" cy="1280160"/>
          </a:xfrm>
          <a:prstGeom prst="rect">
            <a:avLst/>
          </a:prstGeom>
          <a:solidFill>
            <a:srgbClr val="E0F4F9"/>
          </a:solidFill>
          <a:ln w="9525">
            <a:solidFill>
              <a:srgbClr val="0EA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8738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7490"/>
                </a:solidFill>
                <a:latin typeface="Microsoft YaHei"/>
              </a:rPr>
              <a:t>③检索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8738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每题取 top-k 相关段落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1778" y="2423160"/>
            <a:ext cx="368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1628" y="2011680"/>
            <a:ext cx="1572768" cy="1280160"/>
          </a:xfrm>
          <a:prstGeom prst="rect">
            <a:avLst/>
          </a:prstGeom>
          <a:solidFill>
            <a:srgbClr val="FBEFD9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3068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Microsoft YaHei"/>
              </a:rPr>
              <a:t>④QA-agent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068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先思考 再 Final:答案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108" y="2423160"/>
            <a:ext cx="368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5957" y="2011680"/>
            <a:ext cx="1572768" cy="1280160"/>
          </a:xfrm>
          <a:prstGeom prst="rect">
            <a:avLst/>
          </a:prstGeom>
          <a:solidFill>
            <a:srgbClr val="FBEFD9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397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Microsoft YaHei"/>
              </a:rPr>
              <a:t>⑤judge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397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对比标准答案 判 对/错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437" y="2423160"/>
            <a:ext cx="36813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0287" y="2011680"/>
            <a:ext cx="1572768" cy="1280160"/>
          </a:xfrm>
          <a:prstGeom prst="rect">
            <a:avLst/>
          </a:prstGeom>
          <a:solidFill>
            <a:srgbClr val="FBEFD9"/>
          </a:solidFill>
          <a:ln w="95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1727" y="2157984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Microsoft YaHei"/>
              </a:rPr>
              <a:t>⑥统计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2578608"/>
            <a:ext cx="1389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按 6 类 +总体平均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5204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检索阶段不调 LLM；问答阶段每题 2 次 LLM（agent+judge）。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11094415" cy="1143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31920"/>
            <a:ext cx="106372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490"/>
                </a:solidFill>
                <a:latin typeface="Microsoft YaHei"/>
              </a:rPr>
              <a:t>适配（不改上游仓库）：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llm_clients.py 把上游 OpenAI 形态调用路由到 DeepSeek / Anthropic / 本地 vLLM。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E7490"/>
                </a:solidFill>
                <a:latin typeface="Microsoft YaHei"/>
              </a:rPr>
              <a:t>eval_patches.py：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抬高 token 预算（上游给 gpt-5 调的 256/512 会截断 DeepSeek 的 Final 行→误判 Unclear）+ pin temperature=0（可复现）。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</a:rPr>
              <a:t>Mem0 与 BM25 的唯一区别：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②③步改为「LLM 抽取事实入库 → 向量检索记忆」，第④~⑥步完全一致（保证可比）。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Microsoft YaHei"/>
              </a:rPr>
              <a:t>BM25 baseline · 已真实出数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E293B"/>
                </a:solidFill>
                <a:latin typeface="Microsoft YaHei"/>
              </a:rPr>
              <a:t>35% —— 与论文量级吻合，全链路打通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29184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91440" cy="2286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16A34A"/>
                </a:solidFill>
                <a:latin typeface="Arial Black"/>
              </a:rPr>
              <a:t>35.0%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icrosoft YaHei"/>
              </a:rPr>
              <a:t>Finance / multi_hop / 20 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2724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对照论文 BM25 multi_hop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≈ 38.2%</a:t>
            </a:r>
            <a:r>
              <a:rPr sz="1150" b="0">
                <a:solidFill>
                  <a:srgbClr val="64748B"/>
                </a:solidFill>
                <a:latin typeface="Microsoft YaHei"/>
              </a:rPr>
              <a:t>，量级吻合 → 流程忠实、可复现。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7436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跑这一笔顺带修了 2 个「上游为 gpt-5 调参」的坑：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11680"/>
            <a:ext cx="7436815" cy="914400"/>
          </a:xfrm>
          <a:prstGeom prst="rect">
            <a:avLst/>
          </a:prstGeom>
          <a:solidFill>
            <a:srgbClr val="FB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011680"/>
            <a:ext cx="73152" cy="914400"/>
          </a:xfrm>
          <a:prstGeom prst="rect">
            <a:avLst/>
          </a:prstGeom>
          <a:solidFill>
            <a:srgbClr val="DC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2011680"/>
            <a:ext cx="70710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C4A52"/>
                </a:solidFill>
                <a:latin typeface="Microsoft YaHei"/>
              </a:rPr>
              <a:t>① token 太小 → 截断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judge 仅 256 token，DeepSeek 啰嗦 reasoning 把 Final: 行截断 → 误判 Unclear。已抬高预算，Unclear 5→1。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063240"/>
            <a:ext cx="7436815" cy="914400"/>
          </a:xfrm>
          <a:prstGeom prst="rect">
            <a:avLst/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063240"/>
            <a:ext cx="73152" cy="9144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3063240"/>
            <a:ext cx="70710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</a:rPr>
              <a:t>② temperature=0.2 不可复现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跑两次逐题判定会抖。已 pin temperature=0，benchmark 数字可复现。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solidFill>
            <a:srgbClr val="E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6372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7490"/>
                </a:solidFill>
                <a:latin typeface="Microsoft YaHei"/>
              </a:rPr>
              <a:t>下一步：</a:t>
            </a:r>
            <a:r>
              <a:rPr sz="1250" b="0">
                <a:solidFill>
                  <a:srgbClr val="334155"/>
                </a:solidFill>
                <a:latin typeface="Microsoft YaHei"/>
              </a:rPr>
              <a:t>跑 GroupMemBench 全量 745 题（便宜：~1490 次调用），坐实「BM25 追平最强系统 46%」这个 motivation 核武器。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8A1E"/>
                </a:solidFill>
                <a:latin typeface="Microsoft YaHei"/>
              </a:rPr>
              <a:t>Mem0 baseline · 管线打通 +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E293B"/>
                </a:solidFill>
                <a:latin typeface="Microsoft YaHei"/>
              </a:rPr>
              <a:t>定位并修复 4 个问题，检索提速 700×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43200" cy="420624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08760"/>
            <a:ext cx="4023360" cy="420624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508760"/>
            <a:ext cx="38221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根因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508760"/>
            <a:ext cx="4325112" cy="420624"/>
          </a:xfrm>
          <a:prstGeom prst="rect">
            <a:avLst/>
          </a:prstGeom>
          <a:solidFill>
            <a:srgbClr val="12183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1508760"/>
            <a:ext cx="41239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修复 → 效果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9384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29384"/>
            <a:ext cx="2542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检索/embedding 极慢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29384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929384"/>
            <a:ext cx="3822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192 核致 torch 线程超额订阅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929384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1929384"/>
            <a:ext cx="41239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34A"/>
                </a:solidFill>
                <a:latin typeface="Microsoft YaHei"/>
              </a:rPr>
              <a:t>限 8 线程 → 检索 14.5s→0.02s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32888"/>
            <a:ext cx="274320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32888"/>
            <a:ext cx="2542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抽取 0 条事实（0%）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32888"/>
            <a:ext cx="40233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532888"/>
            <a:ext cx="3822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deepseek-v4-flash 是推理模型，抽取 JSON 被截断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532888"/>
            <a:ext cx="432511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2532888"/>
            <a:ext cx="41239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34A"/>
                </a:solidFill>
                <a:latin typeface="Microsoft YaHei"/>
              </a:rPr>
              <a:t>max_tokens→8000（实测可抽出事实）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36391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36391"/>
            <a:ext cx="2542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重复入库浪费 token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136391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136391"/>
            <a:ext cx="3822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get_all 签名用错被吞异常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136391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4927" y="3136391"/>
            <a:ext cx="41239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34A"/>
                </a:solidFill>
                <a:latin typeface="Microsoft YaHei"/>
              </a:rPr>
              <a:t>chroma 持久化 + 已入库则跳过复用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39896"/>
            <a:ext cx="274320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739896"/>
            <a:ext cx="2542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遥测卡顿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39896"/>
            <a:ext cx="4023360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739896"/>
            <a:ext cx="3822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Microsoft YaHei"/>
              </a:rPr>
              <a:t>mem0/chromadb posthog 网络超时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739896"/>
            <a:ext cx="432511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4927" y="3739896"/>
            <a:ext cx="41239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A34A"/>
                </a:solidFill>
                <a:latin typeface="Microsoft YaHei"/>
              </a:rPr>
              <a:t>关闭遥测（次要提速）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94415" cy="841248"/>
          </a:xfrm>
          <a:prstGeom prst="rect">
            <a:avLst/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92040"/>
            <a:ext cx="1063721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</a:rPr>
              <a:t>结构性成本：</a:t>
            </a:r>
            <a:r>
              <a:rPr sz="1150" b="0">
                <a:solidFill>
                  <a:srgbClr val="334155"/>
                </a:solidFill>
                <a:latin typeface="Microsoft YaHei"/>
              </a:rPr>
              <a:t>入库每批仍要 1 次 DeepSeek 抽取（~20s/批），全量 30k 条需专门规划；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但入库一次即可持久化复用，之后所有题零额外入库成本。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EA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38404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A5C4"/>
                </a:solidFill>
                <a:latin typeface="Microsoft YaHei"/>
              </a:rPr>
              <a:t>下一步 &amp; 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</a:rPr>
              <a:t>路线清晰，逐步坐实实验数字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A5C4"/>
                </a:solidFill>
                <a:latin typeface="Microsoft YaHei"/>
              </a:rPr>
              <a:t>下一步（按性价比）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① 验证 Mem0 抽取非空后，跑适中规模出真实数字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2432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② BM25 全量 745 题（便宜，坐实 BM25≈46% motivation）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9125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③ 图驱动合成 200 条训练数据 → Stage1 SFT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58183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④ 接 SocialMemBench / EverMemBench 实跑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150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08A1E"/>
                </a:solidFill>
                <a:latin typeface="Microsoft YaHei"/>
              </a:rPr>
              <a:t>风险 / 待办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50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8A1E"/>
                </a:solidFill>
                <a:latin typeface="Microsoft YaHei"/>
              </a:rPr>
              <a:t>· </a:t>
            </a:r>
            <a:r>
              <a:rPr sz="1300" b="0">
                <a:solidFill>
                  <a:srgbClr val="CADCFC"/>
                </a:solidFill>
                <a:latin typeface="Microsoft YaHei"/>
              </a:rPr>
              <a:t>Mem0 全量入库成本/耗时仍高（已可复用缓解）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5150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8A1E"/>
                </a:solidFill>
                <a:latin typeface="Microsoft YaHei"/>
              </a:rPr>
              <a:t>· </a:t>
            </a:r>
            <a:r>
              <a:rPr sz="1300" b="0">
                <a:solidFill>
                  <a:srgbClr val="CADCFC"/>
                </a:solidFill>
                <a:latin typeface="Microsoft YaHei"/>
              </a:rPr>
              <a:t>判分用 DeepSeek 与论文 gpt-5 有偏移（相对比较成立）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91256"/>
            <a:ext cx="5150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8A1E"/>
                </a:solidFill>
                <a:latin typeface="Microsoft YaHei"/>
              </a:rPr>
              <a:t>· </a:t>
            </a:r>
            <a:r>
              <a:rPr sz="1300" b="0">
                <a:solidFill>
                  <a:srgbClr val="CADCFC"/>
                </a:solidFill>
                <a:latin typeface="Microsoft YaHei"/>
              </a:rPr>
              <a:t>GPU 待落实（P5 RL 训练前置）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58183"/>
            <a:ext cx="5150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08A1E"/>
                </a:solidFill>
                <a:latin typeface="Microsoft YaHei"/>
              </a:rPr>
              <a:t>· </a:t>
            </a:r>
            <a:r>
              <a:rPr sz="1300" b="0">
                <a:solidFill>
                  <a:srgbClr val="CADCFC"/>
                </a:solidFill>
                <a:latin typeface="Microsoft YaHei"/>
              </a:rPr>
              <a:t>训练数据须合成，质量能否撑 RL 待验证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代码 / 数据 / 文档见 复现/（README.md、数据与流程说明.md、P4实验进度汇报.md）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