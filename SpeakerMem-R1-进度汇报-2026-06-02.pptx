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72084" autoAdjust="0"/>
  </p:normalViewPr>
  <p:slideViewPr>
    <p:cSldViewPr snapToGrid="0" snapToObjects="1">
      <p:cViewPr varScale="1">
        <p:scale>
          <a:sx n="83" d="100"/>
          <a:sy n="83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32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解决了什么问题？什么动机。什么缺陷而去做的。；还有什么不足。</a:t>
            </a:r>
            <a:endParaRPr lang="en-US" altLang="zh-CN" dirty="0"/>
          </a:p>
          <a:p>
            <a:r>
              <a:rPr lang="zh-CN" altLang="en-US" dirty="0"/>
              <a:t>解决什么问题， 有哪些指标，有哪些</a:t>
            </a:r>
            <a:r>
              <a:rPr lang="en-US" altLang="zh-CN" dirty="0" err="1"/>
              <a:t>sota</a:t>
            </a:r>
            <a:r>
              <a:rPr lang="zh-CN" altLang="en-US" dirty="0"/>
              <a:t>方法，有什么不足。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280160"/>
            <a:ext cx="3291840" cy="3291840"/>
          </a:xfrm>
          <a:prstGeom prst="ellipse">
            <a:avLst/>
          </a:prstGeom>
          <a:solidFill>
            <a:srgbClr val="27347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566160"/>
            <a:ext cx="2377440" cy="2377440"/>
          </a:xfrm>
          <a:prstGeom prst="ellipse">
            <a:avLst/>
          </a:prstGeom>
          <a:solidFill>
            <a:srgbClr val="0E7490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AAAI 2027 投稿  ·  面向多方对话记忆的强化学习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研究进度汇报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3A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首个面向多方对话（3+ 人 / 群聊）记忆管理的强化学习框架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420624" cy="420624"/>
          </a:xfrm>
          <a:prstGeom prst="ellipse">
            <a:avLst/>
          </a:prstGeom>
          <a:solidFill>
            <a:srgbClr val="0EA5C4"/>
          </a:solidFill>
          <a:ln w="19050">
            <a:solidFill>
              <a:srgbClr val="121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81328" y="3291840"/>
            <a:ext cx="420624" cy="420624"/>
          </a:xfrm>
          <a:prstGeom prst="ellipse">
            <a:avLst/>
          </a:prstGeom>
          <a:solidFill>
            <a:srgbClr val="E08A1E"/>
          </a:solidFill>
          <a:ln w="19050">
            <a:solidFill>
              <a:srgbClr val="121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48256" y="3291840"/>
            <a:ext cx="420624" cy="420624"/>
          </a:xfrm>
          <a:prstGeom prst="ellipse">
            <a:avLst/>
          </a:prstGeom>
          <a:solidFill>
            <a:srgbClr val="6D5BD0"/>
          </a:solidFill>
          <a:ln w="19050">
            <a:solidFill>
              <a:srgbClr val="121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383280"/>
            <a:ext cx="274320" cy="23774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871216" y="3182112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C255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334670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38144" y="3182112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 Speaker-Indexed Memory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77240" y="4389120"/>
            <a:ext cx="7589520" cy="0"/>
          </a:xfrm>
          <a:prstGeom prst="line">
            <a:avLst/>
          </a:prstGeom>
          <a:noFill/>
          <a:ln w="12700">
            <a:solidFill>
              <a:srgbClr val="31407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4517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77240" y="4736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（学生）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29000" y="4517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429000" y="4736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080760" y="45171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目标会议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080760" y="4736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AAAI 2027 · 蒙特利尔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一页摘要 · 给导师快速过目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纸面准备已完成，实验是唯一硬缺口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7492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96926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603504" cy="603504"/>
          </a:xfrm>
          <a:prstGeom prst="ellipse">
            <a:avLst/>
          </a:prstGeom>
          <a:solidFill>
            <a:srgbClr val="E1F5E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556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5361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· 纸面准备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89888" y="182880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系统性文献调研 35 篇 · 方法设计 · 7 章论文草稿 · 6 个代码模块（dry-run / mock 测试通过）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551176"/>
            <a:ext cx="507492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551176"/>
            <a:ext cx="54864" cy="96926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734056"/>
            <a:ext cx="603504" cy="603504"/>
          </a:xfrm>
          <a:prstGeom prst="ellipse">
            <a:avLst/>
          </a:prstGeom>
          <a:solidFill>
            <a:srgbClr val="E0F4F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88950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89888" y="26700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 · 零篇先例的研究空白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389888" y="2962656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「多方 + 说话人锚定 + RL 训练」三者交集，截至 2026/6/2 无人涉足（4 轮检索验证）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685032"/>
            <a:ext cx="507492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685032"/>
            <a:ext cx="54864" cy="969264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" y="3867912"/>
            <a:ext cx="603504" cy="603504"/>
          </a:xfrm>
          <a:prstGeom prst="ellipse">
            <a:avLst/>
          </a:prstGeom>
          <a:solidFill>
            <a:srgbClr val="FBE6E7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2336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89888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唯一硬缺口 · 实验零开工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389888" y="409651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真实实验一项都还没跑（无训练数据、无算力投入）—— 论文里所有实验数字都是占位符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806440" y="1417320"/>
            <a:ext cx="2880360" cy="3236976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65506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19672" y="16367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最需导师指点的 3 件事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044184" y="2167128"/>
            <a:ext cx="2404872" cy="0"/>
          </a:xfrm>
          <a:prstGeom prst="line">
            <a:avLst/>
          </a:prstGeom>
          <a:noFill/>
          <a:ln w="12700">
            <a:solidFill>
              <a:srgbClr val="33407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44184" y="2350008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8" name="Text 22"/>
          <p:cNvSpPr/>
          <p:nvPr/>
        </p:nvSpPr>
        <p:spPr>
          <a:xfrm>
            <a:off x="6044184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64808" y="2313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时间线决策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464808" y="25648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 AAAI 2027（约 7 周，风险高）还是放更晚会议做扎实？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044184" y="3063240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2" name="Text 26"/>
          <p:cNvSpPr/>
          <p:nvPr/>
        </p:nvSpPr>
        <p:spPr>
          <a:xfrm>
            <a:off x="6044184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464808" y="3026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算力与经费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464808" y="32781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4×A100 / ~$1,100 训练 + ~$50–100 数据 API，是否可行？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044184" y="3776472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6" name="Text 30"/>
          <p:cNvSpPr/>
          <p:nvPr/>
        </p:nvSpPr>
        <p:spPr>
          <a:xfrm>
            <a:off x="6044184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464808" y="3739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数据策略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464808" y="39913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benchmark 都无训练集，须全合成 —— 质量能否撑 RL？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研究定位与意义 · Significance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群聊 AI 的刚需，且现有系统集体失败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58368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179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3716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</a:t>
            </a: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是首个用于多方对话（3+ 人）记忆管理的强化学习框架。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真实场景大量存在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596896"/>
            <a:ext cx="1356360" cy="14813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1916" y="2761488"/>
            <a:ext cx="566928" cy="566928"/>
          </a:xfrm>
          <a:prstGeom prst="ellipse">
            <a:avLst/>
          </a:prstGeom>
          <a:solidFill>
            <a:srgbClr val="E0F4F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" y="29077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3383280"/>
            <a:ext cx="135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企业群聊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" y="3639312"/>
            <a:ext cx="126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Slack / 飞书 / Teams</a:t>
            </a:r>
            <a:endParaRPr lang="en-US" sz="8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数十人共享频道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1996440" y="2596896"/>
            <a:ext cx="1356360" cy="14813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391156" y="2761488"/>
            <a:ext cx="566928" cy="566928"/>
          </a:xfrm>
          <a:prstGeom prst="ellipse">
            <a:avLst/>
          </a:prstGeom>
          <a:solidFill>
            <a:srgbClr val="E0F4F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460" y="290779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96440" y="3383280"/>
            <a:ext cx="135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在线教育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2042160" y="3639312"/>
            <a:ext cx="126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一师多生</a:t>
            </a:r>
            <a:endParaRPr lang="en-US" sz="8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跟踪学生理解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3535680" y="2596896"/>
            <a:ext cx="1356360" cy="14813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930396" y="2761488"/>
            <a:ext cx="566928" cy="566928"/>
          </a:xfrm>
          <a:prstGeom prst="ellipse">
            <a:avLst/>
          </a:prstGeom>
          <a:solidFill>
            <a:srgbClr val="E0F4F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700" y="29077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35680" y="3383280"/>
            <a:ext cx="135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会诊 / 剧本杀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581400" y="3639312"/>
            <a:ext cx="126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多来源信息</a:t>
            </a:r>
            <a:endParaRPr lang="en-US" sz="8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须区分说话人</a:t>
            </a:r>
            <a:endParaRPr lang="en-US" sz="880" dirty="0"/>
          </a:p>
        </p:txBody>
      </p:sp>
      <p:sp>
        <p:nvSpPr>
          <p:cNvPr id="24" name="Text 18"/>
          <p:cNvSpPr/>
          <p:nvPr/>
        </p:nvSpPr>
        <p:spPr>
          <a:xfrm>
            <a:off x="5074920" y="22860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硬数据：现有系统几乎「没有记忆」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074920" y="2596896"/>
            <a:ext cx="3611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074920" y="2596896"/>
            <a:ext cx="54864" cy="676656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7" name="Text 21"/>
          <p:cNvSpPr/>
          <p:nvPr/>
        </p:nvSpPr>
        <p:spPr>
          <a:xfrm>
            <a:off x="5239512" y="2596896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C4A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0.12–0.18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6720840" y="266090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SocialMemBench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720840" y="2871216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最好的开源记忆系统（Mem0 / LangMem / Graphiti / Cognee）在多方社交场景的准确率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074920" y="3364992"/>
            <a:ext cx="3611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074920" y="3364992"/>
            <a:ext cx="54864" cy="67665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2" name="Text 26"/>
          <p:cNvSpPr/>
          <p:nvPr/>
        </p:nvSpPr>
        <p:spPr>
          <a:xfrm>
            <a:off x="5239512" y="3364992"/>
            <a:ext cx="1417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08A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6720840" y="342900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GroupMemBench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720840" y="363931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最强系统上限；连朴素 BM25 都能追平 —— 瓶颈是结构性缺陷，非模型不聪明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研究空白 · Gap（4 轮检索验证）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 × RL 记忆 = 零篇先例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9264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36804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RL 记忆方法
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 dyadic（一对一 user–assistant）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32020" y="1463040"/>
            <a:ext cx="36804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现有多方对话记忆工作
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全是 training-free / 仅做评测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1591056"/>
            <a:ext cx="822960" cy="530352"/>
          </a:xfrm>
          <a:prstGeom prst="ellipse">
            <a:avLst/>
          </a:prstGeom>
          <a:solidFill>
            <a:srgbClr val="E08A1E"/>
          </a:solidFill>
          <a:ln w="31750">
            <a:solidFill>
              <a:srgbClr val="121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59105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8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交集=0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三个「说话人盲区」结构性缺陷 —— 不是调参能解决的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2572512" cy="1572768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07792"/>
            <a:ext cx="54864" cy="157276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108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462784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9C9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8368" y="3749040"/>
            <a:ext cx="220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space 缺 speaker_id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8368" y="4059936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把多方发言强行合并成「user」，存储时就丢失了「这是谁的信息」。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85744" y="2907792"/>
            <a:ext cx="2572512" cy="1572768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85744" y="2907792"/>
            <a:ext cx="54864" cy="157276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0" name="Shape 17"/>
          <p:cNvSpPr/>
          <p:nvPr/>
        </p:nvSpPr>
        <p:spPr>
          <a:xfrm>
            <a:off x="3486912" y="3108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072" y="324612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9132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9C9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3486912" y="3749040"/>
            <a:ext cx="220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 的 speaker 盲区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3486912" y="4059936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Levenshtein 只比对整体记忆：Alice 的事存到 Bob 名下，内容对、归属错，仍得高分。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114288" y="2907792"/>
            <a:ext cx="2572512" cy="1572768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14288" y="2907792"/>
            <a:ext cx="54864" cy="157276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7" name="Shape 23"/>
          <p:cNvSpPr/>
          <p:nvPr/>
        </p:nvSpPr>
        <p:spPr>
          <a:xfrm>
            <a:off x="6315456" y="3108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616" y="324612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11987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9C9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6315456" y="3749040"/>
            <a:ext cx="2206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Credit assignment 盲区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315456" y="4059936"/>
            <a:ext cx="2188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 rollout 面对的说话人分布不同，奖励本质不可比 —— LoGo 也无法保证公平。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文献调研 · 共 35 篇，均 10KB+ 中文详解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 3 个对比锚点，确认零篇空白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3017520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8191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EA5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4597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 · 覆盖 5 大主题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43784"/>
            <a:ext cx="2057400" cy="0"/>
          </a:xfrm>
          <a:prstGeom prst="line">
            <a:avLst/>
          </a:prstGeom>
          <a:noFill/>
          <a:ln w="12700">
            <a:solidFill>
              <a:srgbClr val="334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80944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98648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记忆方法 + 竞品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282696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0040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多方对话记忆系统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584448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50215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数据集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803904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长程信用分配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187952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105656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/ 隐私视角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139903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三大贡献分别「扩展」自这三篇 2026 最新 dyadic 工作 —— 差异清晰、可对比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1728216"/>
            <a:ext cx="5349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1728216"/>
            <a:ext cx="54864" cy="67665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1801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DeltaMem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65192" y="1847088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965192" y="184708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38728" y="2112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Memory-based Levenshtein 稠密过程奖励</a:t>
            </a:r>
            <a:endParaRPr lang="en-US" sz="88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84248"/>
            <a:ext cx="201168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56832" y="1728216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SpeakerLevenshtein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337560" y="2514600"/>
            <a:ext cx="5349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37560" y="2514600"/>
            <a:ext cx="54864" cy="676656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0" name="Text 27"/>
          <p:cNvSpPr/>
          <p:nvPr/>
        </p:nvSpPr>
        <p:spPr>
          <a:xfrm>
            <a:off x="3538728" y="2587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Memory-R2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965192" y="263347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32" name="Text 29"/>
          <p:cNvSpPr/>
          <p:nvPr/>
        </p:nvSpPr>
        <p:spPr>
          <a:xfrm>
            <a:off x="4965192" y="26334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38728" y="2898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LoGo-GRPO 恢复公平比较 + 渐进课程</a:t>
            </a:r>
            <a:endParaRPr lang="en-US" sz="88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770632"/>
            <a:ext cx="201168" cy="1828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656832" y="2514600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SC-LoGo-GRPO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337560" y="3300984"/>
            <a:ext cx="5349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3337560" y="3300984"/>
            <a:ext cx="54864" cy="67665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8" name="Text 34"/>
          <p:cNvSpPr/>
          <p:nvPr/>
        </p:nvSpPr>
        <p:spPr>
          <a:xfrm>
            <a:off x="3538728" y="33741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CoMAM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4965192" y="3419856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0" name="Text 36"/>
          <p:cNvSpPr/>
          <p:nvPr/>
        </p:nvSpPr>
        <p:spPr>
          <a:xfrm>
            <a:off x="4965192" y="34198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2026.03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3538728" y="3685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joint 端到端多 agent RL，自适应 credit</a:t>
            </a:r>
            <a:endParaRPr lang="en-US" sz="88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557016"/>
            <a:ext cx="201168" cy="1828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656832" y="3300984"/>
            <a:ext cx="1874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joint training 思路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3337560" y="4142232"/>
            <a:ext cx="5349240" cy="292608"/>
          </a:xfrm>
          <a:prstGeom prst="rect">
            <a:avLst/>
          </a:prstGeom>
          <a:solidFill>
            <a:srgbClr val="FBEFD9"/>
          </a:solidFill>
          <a:ln/>
        </p:spPr>
      </p:sp>
      <p:sp>
        <p:nvSpPr>
          <p:cNvPr id="45" name="Text 40"/>
          <p:cNvSpPr/>
          <p:nvPr/>
        </p:nvSpPr>
        <p:spPr>
          <a:xfrm>
            <a:off x="3483864" y="414223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关键结论：</a:t>
            </a: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三个竞品均无公开代码 → baseline 须自复现，但 reviewer 也更难质疑。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 展开 ① · Dyadic RL 记忆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记忆方法谱系：一年快速演进，但全在 dyadic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755680"/>
              </p:ext>
            </p:extLst>
          </p:nvPr>
        </p:nvGraphicFramePr>
        <p:xfrm>
          <a:off x="512528" y="1351026"/>
          <a:ext cx="8063948" cy="2688336"/>
        </p:xfrm>
        <a:graphic>
          <a:graphicData uri="http://schemas.openxmlformats.org/drawingml/2006/table">
            <a:tbl>
              <a:tblPr/>
              <a:tblGrid>
                <a:gridCol w="1388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Memory-R1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2025.08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首个 RL 记忆 · 双 agent（Manager+Answer）+ Memory Distillation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152 条训练，LoCoMo F1 +48%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AgeMem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2026.01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step-wise GRPO · 6 类工具动作统一 LTM/STM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benchmark +4.8–8.6%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Mem-α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2026.01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 / episodic / semantic 三组件架构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30k 训练泛化到 400k+ token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MEM1 / MemSearcher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masked trajectory · multi-context GRPO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3B 模型超过 7B baseline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Mem-T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2026.01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 Operation Tree（MoT-GRPO）+ hindsight credit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 Mem0 / A-MEM +14.9%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DeltaMem  ★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2026.04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Memory-based Levenshtein 稠密过程奖励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= 0.1 fmt + 0.1 ret + 0.8 state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6D5BD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Memory-R2  ★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2026.05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LoGo-GRPO（local rerollout）+ 渐进课程 8→32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修复信用分配不公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CoMAM  ★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2026.03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joint 端到端 RL + rank-consistency 自适应 credit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PersonaMem +8.5–16.7%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9664"/>
            <a:ext cx="8229600" cy="402336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457200" y="4169664"/>
            <a:ext cx="54864" cy="40233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4169664"/>
            <a:ext cx="7918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dyadic（两人对话）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无一考虑说话人归属与受众适配。 ★ = 我们三大贡献的直接前身（另有 MemBuilder 归因稠密奖励、R²-Mem F1 +22.6% 同属 dyadic）。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 展开 · 通用记忆系统全景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从「基线三件套」到 2026 新秀 —— 全是单用户 / dyadic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经典三件套 · training-free 基线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572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4864" cy="87782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37360"/>
            <a:ext cx="227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2261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驱动 CRUD（ADD/UPDATE/DELETE）· production 标准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85744" y="1627632"/>
            <a:ext cx="2572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5744" y="1627632"/>
            <a:ext cx="54864" cy="87782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2" name="Text 10"/>
          <p:cNvSpPr/>
          <p:nvPr/>
        </p:nvSpPr>
        <p:spPr>
          <a:xfrm>
            <a:off x="3450336" y="1737360"/>
            <a:ext cx="227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A-MEM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0336" y="2011680"/>
            <a:ext cx="2261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原子记忆 + 动态链接（无预定义 schema）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14288" y="1627632"/>
            <a:ext cx="2572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4288" y="1627632"/>
            <a:ext cx="54864" cy="87782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6" name="Text 14"/>
          <p:cNvSpPr/>
          <p:nvPr/>
        </p:nvSpPr>
        <p:spPr>
          <a:xfrm>
            <a:off x="6278880" y="1737360"/>
            <a:ext cx="227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MemoryBank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78880" y="2011680"/>
            <a:ext cx="2261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艾宾浩斯遗忘曲线（强度衰减）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2025–26 新秀（更强，但仍单用户）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19065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07792"/>
            <a:ext cx="54864" cy="91440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2999232"/>
            <a:ext cx="16687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5216" y="3255264"/>
            <a:ext cx="1650492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3255264"/>
            <a:ext cx="1650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EMNLP'25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85216" y="3474720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 式短/中/长期分层；LoCoMo F1 +49%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2564892" y="2907792"/>
            <a:ext cx="19065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4892" y="2907792"/>
            <a:ext cx="54864" cy="91440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7" name="Text 25"/>
          <p:cNvSpPr/>
          <p:nvPr/>
        </p:nvSpPr>
        <p:spPr>
          <a:xfrm>
            <a:off x="2692908" y="2999232"/>
            <a:ext cx="16687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MemGAS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692908" y="3255264"/>
            <a:ext cx="1650492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2692908" y="3255264"/>
            <a:ext cx="1650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ICLR'26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92908" y="3474720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多粒度关联 + GMM 聚类 + 熵路由检索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672584" y="2907792"/>
            <a:ext cx="19065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72584" y="2907792"/>
            <a:ext cx="54864" cy="91440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999232"/>
            <a:ext cx="16687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LightMem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00600" y="3255264"/>
            <a:ext cx="1650492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255264"/>
            <a:ext cx="1650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ICLR'26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0600" y="3474720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在线/离线分离 + 压缩；token 降至 1/117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6780276" y="2907792"/>
            <a:ext cx="190652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80276" y="2907792"/>
            <a:ext cx="54864" cy="914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Text 37"/>
          <p:cNvSpPr/>
          <p:nvPr/>
        </p:nvSpPr>
        <p:spPr>
          <a:xfrm>
            <a:off x="6908292" y="2999232"/>
            <a:ext cx="16687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908292" y="3255264"/>
            <a:ext cx="1650492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6908292" y="3255264"/>
            <a:ext cx="1650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· 读侧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08292" y="3474720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Memorizer + Researcher 双 LLM · JIT 检索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041648"/>
            <a:ext cx="54864" cy="45720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4041648"/>
            <a:ext cx="7918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single-user / dyadic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连 2026 最新系统都不绑定说话人。这是 DeferMem 等论文的标准对照集（我们须覆盖）；而多方场景下 BM25 即可追平它们 → 正是我们 speaker-grounded 的缺口。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 展开 ② · 多方系统 &amp; 信用分配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多方记忆系统：要么 training-free，要么只做生成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多方对话记忆系统（无一可学习记忆读写）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5212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09928"/>
            <a:ext cx="54864" cy="49377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Collaborative Mem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9424" y="175564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共享/私有记忆 + bipartite 访问控制 + provenance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2249424" y="196596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写入是固定规则，不可学习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212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54864" cy="49377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33172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G-Memory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9424" y="233172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三层图记忆（insight/query/interaction），+20.89%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249424" y="254203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training-free；面向 AI-agent 非人类群聊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5212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62072"/>
            <a:ext cx="54864" cy="49377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90779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 / MOOM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9424" y="290779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从电影剧本构造含共享记忆的多说话人数据集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249424" y="311810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数据构造可借鉴，非方法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5212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38144"/>
            <a:ext cx="54864" cy="49377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48386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SA-LLM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9424" y="348386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说话人感知对比学习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2249424" y="369417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针对对话生成，非记忆管理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014216"/>
            <a:ext cx="52120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14216"/>
            <a:ext cx="54864" cy="49377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05993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MuPaS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9424" y="405993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role-masked SFT 训练多方对话模型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2249424" y="427024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我们直接借用 role-mask 做 Stage 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0" y="1417320"/>
            <a:ext cx="2743200" cy="3072384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63056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长程信用分配工具箱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63056" y="2020824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34" name="Text 32"/>
          <p:cNvSpPr/>
          <p:nvPr/>
        </p:nvSpPr>
        <p:spPr>
          <a:xfrm>
            <a:off x="6345936" y="19476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45936" y="215798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group-relative 优势；长程难分关键步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163056" y="2478024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37" name="Text 35"/>
          <p:cNvSpPr/>
          <p:nvPr/>
        </p:nvSpPr>
        <p:spPr>
          <a:xfrm>
            <a:off x="6345936" y="24048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HiPER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45936" y="261518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RL + HAE；ALFWorld 97.4%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6163056" y="2935224"/>
            <a:ext cx="109728" cy="109728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40" name="Text 38"/>
          <p:cNvSpPr/>
          <p:nvPr/>
        </p:nvSpPr>
        <p:spPr>
          <a:xfrm>
            <a:off x="6345936" y="2862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HCAPO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45936" y="307238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作 post-hoc critic 做 hindsight 归因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163056" y="3447288"/>
            <a:ext cx="2304288" cy="0"/>
          </a:xfrm>
          <a:prstGeom prst="line">
            <a:avLst/>
          </a:prstGeom>
          <a:noFill/>
          <a:ln w="12700">
            <a:solidFill>
              <a:srgbClr val="3340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63056" y="35570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均在单一用户视角。</a:t>
            </a:r>
            <a:r>
              <a:rPr lang="en-US" sz="900" dirty="0">
                <a:solidFill>
                  <a:srgbClr val="D7DE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多方需在 操作 × 说话人 双维度精化信用分配 —— 正是 SC-LoGo 的切入点。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63056" y="412394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交集仍空白：</a:t>
            </a: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 + 说话人锚定 + RL 记忆管理 = 零篇先例。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数据集调研 · 主战场全部 2026 年新出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三个多方 benchmark 都没有训练集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337421"/>
              </p:ext>
            </p:extLst>
          </p:nvPr>
        </p:nvGraphicFramePr>
        <p:xfrm>
          <a:off x="457200" y="1389888"/>
          <a:ext cx="8229600" cy="168249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多方 Benchmark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 / 特点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关键基准数字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GroupMemBench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图驱动合成多方对话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最强系统仅 46%；BM25 追平神经系统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EverMemBench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每实例 1M+ token，2,400 QA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 多跳归因仅 ~26%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SocialMemBench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2026.05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430 personas / 1,031 QA / 348 sessions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开源框架 0.12–0.18；目标超 0.35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dyadic 对照（证明 N=1 时方法不退化）：</a:t>
            </a: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LOCOMO  ·  LongMemEval  ·  PersonaMem-v2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3529584"/>
            <a:ext cx="8229600" cy="950976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529584"/>
            <a:ext cx="54864" cy="950976"/>
          </a:xfrm>
          <a:prstGeom prst="rect">
            <a:avLst/>
          </a:prstGeom>
          <a:solidFill>
            <a:srgbClr val="E08A1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730752"/>
            <a:ext cx="457200" cy="457200"/>
          </a:xfrm>
          <a:prstGeom prst="rect">
            <a:avLst/>
          </a:prstGeom>
        </p:spPr>
      </p:pic>
      <p:sp>
        <p:nvSpPr>
          <p:cNvPr id="5" name="Text 6"/>
          <p:cNvSpPr/>
          <p:nvPr/>
        </p:nvSpPr>
        <p:spPr>
          <a:xfrm>
            <a:off x="1298448" y="3639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关键发现：训练数据必须完全合成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3931920"/>
            <a:ext cx="7205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三者均为纯评测集，即便有对话也只有 QA pairs、没有 memory 操作序列标注（每 turn 该 WRITE / UPDATE / DELETE 哪条）。已设计图驱动合成 pipeline（GroupMemBench graph-grounded + Memory-R1 的 152 条拐点思路），目标先合成 200 条（50×4 场景）。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方法展开 · 问题形式化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多方记忆的 3 个新挑战 + 说话人归属动作空间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22960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53312"/>
            <a:ext cx="7918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形式化：</a:t>
            </a: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C = {(s_t, u_t)}，K 个说话人；查询 q =（提问者 s_ask, 目标 s_target, 问题文本）。Agent 维护说话人索引记忆 M 并检索作答。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57200" y="1975104"/>
            <a:ext cx="2572512" cy="1463040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75104"/>
            <a:ext cx="54864" cy="146304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579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2860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2743200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说话人归属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3017520"/>
            <a:ext cx="2243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每条事实须带来源：f =（content, s_owner）。多说话人讨论同一实体时，归属模糊。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3285744" y="1975104"/>
            <a:ext cx="2572512" cy="1463040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85744" y="1975104"/>
            <a:ext cx="54864" cy="146304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5" name="Shape 12"/>
          <p:cNvSpPr/>
          <p:nvPr/>
        </p:nvSpPr>
        <p:spPr>
          <a:xfrm>
            <a:off x="3468624" y="21579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640" y="228600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0336" y="2743200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受众适配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50336" y="3017520"/>
            <a:ext cx="2243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作答需考虑提问者 s_ask 的视角、其与 s_target 的关系、以及访问权限。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6114288" y="1975104"/>
            <a:ext cx="2572512" cy="1463040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14288" y="1975104"/>
            <a:ext cx="54864" cy="146304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1" name="Shape 17"/>
          <p:cNvSpPr/>
          <p:nvPr/>
        </p:nvSpPr>
        <p:spPr>
          <a:xfrm>
            <a:off x="6297168" y="21579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184" y="228600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78880" y="2743200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跨说话人隐私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78880" y="3017520"/>
            <a:ext cx="2243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s_i 拥有的信息可能不应被 s_j 访问 → 记忆须具备显式访问控制。</a:t>
            </a:r>
            <a:endParaRPr lang="en-US" sz="870" dirty="0"/>
          </a:p>
        </p:txBody>
      </p:sp>
      <p:sp>
        <p:nvSpPr>
          <p:cNvPr id="25" name="Shape 20"/>
          <p:cNvSpPr/>
          <p:nvPr/>
        </p:nvSpPr>
        <p:spPr>
          <a:xfrm>
            <a:off x="457200" y="3639312"/>
            <a:ext cx="8229600" cy="859536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639312"/>
            <a:ext cx="54864" cy="85953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" y="369417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说话人归属动作空间（扩展自 AgeMem，强制说话人元数据）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40080" y="39593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 WRITE(c, s, A, l) · UPDATE(e, c) · DELETE(e) · SUMMARY(E, l) · PROMOTE(e) · SUPPRESS(e, λ) · READ(s, s′) · NOOP }</a:t>
            </a:r>
            <a:endParaRPr lang="en-US" sz="920" dirty="0"/>
          </a:p>
        </p:txBody>
      </p:sp>
      <p:sp>
        <p:nvSpPr>
          <p:cNvPr id="29" name="Text 24"/>
          <p:cNvSpPr/>
          <p:nvPr/>
        </p:nvSpPr>
        <p:spPr>
          <a:xfrm>
            <a:off x="640080" y="4206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关键区别：</a:t>
            </a: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WRITE 强制带 speaker owner s + 受众集合 A —— dyadic 动作空间（Memory-R1 / DeltaMem）没有这层条件化，下游奖励函数也就无从谈起。</a:t>
            </a:r>
            <a:endParaRPr lang="en-US" sz="870" dirty="0"/>
          </a:p>
        </p:txBody>
      </p:sp>
      <p:sp>
        <p:nvSpPr>
          <p:cNvPr id="30" name="Text 25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方法展开 · 系统数据流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→ 记忆 → 检索 → 回答：精准区分『谁说了什么』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229600" cy="749808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361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353312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</a:t>
            </a:r>
            <a:r>
              <a:rPr lang="en-US" sz="105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在多角色（3+ 人）对话中精准区分『谁说了什么』—— 把不同说话人的事实 / 观点 / 答案分得清清楚楚，回答时准确归属到正确的人、时间、语境。受众适配与隐私只是其中一项子能力。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1783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578608"/>
            <a:ext cx="1783080" cy="3657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" y="257860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A_mem 写记忆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5216" y="3090672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新发言 u_t + 记忆摘要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85216" y="3529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记忆动作 WRITE/UPDATE…</a:t>
            </a:r>
            <a:endParaRPr lang="en-US" sz="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3182112"/>
            <a:ext cx="265176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78608" y="2578608"/>
            <a:ext cx="1783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578608" y="2578608"/>
            <a:ext cx="1783080" cy="36576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6" name="Text 12"/>
          <p:cNvSpPr/>
          <p:nvPr/>
        </p:nvSpPr>
        <p:spPr>
          <a:xfrm>
            <a:off x="2706624" y="257860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记忆 · 5 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06624" y="3090672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按说话人分桶存储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706624" y="3529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per-speaker×3 + group×2</a:t>
            </a:r>
            <a:endParaRPr lang="en-US" sz="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3182112"/>
            <a:ext cx="265176" cy="2377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00016" y="2578608"/>
            <a:ext cx="1783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0016" y="2578608"/>
            <a:ext cx="1783080" cy="3657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2" name="Text 17"/>
          <p:cNvSpPr/>
          <p:nvPr/>
        </p:nvSpPr>
        <p:spPr>
          <a:xfrm>
            <a:off x="4828032" y="257860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A_ret 检索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28032" y="3090672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查询 q + 可访问记忆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828032" y="3529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相关片段 context</a:t>
            </a:r>
            <a:endParaRPr lang="en-US" sz="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182112"/>
            <a:ext cx="265176" cy="23774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821424" y="2578608"/>
            <a:ext cx="1783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821424" y="2578608"/>
            <a:ext cx="1783080" cy="36576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8" name="Text 22"/>
          <p:cNvSpPr/>
          <p:nvPr/>
        </p:nvSpPr>
        <p:spPr>
          <a:xfrm>
            <a:off x="6949440" y="257860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A_ans 回答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949440" y="3090672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q + context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949440" y="3529584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答案 a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57200" y="4169664"/>
            <a:ext cx="54864" cy="384048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3" name="Text 27"/>
          <p:cNvSpPr/>
          <p:nvPr/>
        </p:nvSpPr>
        <p:spPr>
          <a:xfrm>
            <a:off x="621792" y="4169664"/>
            <a:ext cx="7918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一个模型扮三个角色</a:t>
            </a: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（A_mem / A_ret / A_ans 共享 backbone）；A_mem 逐轮在线写入，A_ret / A_ans 在查询 q 到来时运行。</a:t>
            </a:r>
            <a:endParaRPr lang="en-US" sz="920" dirty="0"/>
          </a:p>
        </p:txBody>
      </p:sp>
      <p:sp>
        <p:nvSpPr>
          <p:cNvPr id="34" name="Text 28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核心能力示例 1 / 6 · 单流混淆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多人同主题，归属不能混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企业项目群（Slack / Teams / 飞书）· 团队分工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329184" cy="329184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1673352"/>
            <a:ext cx="44348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733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模型训练我来负责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112264"/>
            <a:ext cx="44348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1226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数据清洗交给我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329184" cy="329184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" y="2551176"/>
            <a:ext cx="44348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5511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Carol：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我盯评测和指标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29184" cy="32918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" y="2990088"/>
            <a:ext cx="44348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99008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Dave：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前端和 demo 归我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4855464" cy="493776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54787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谁负责评测？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Carol</a:t>
            </a:r>
            <a:endParaRPr lang="en-US" sz="8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 做什么？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532120" y="1417320"/>
            <a:ext cx="3154680" cy="1298448"/>
          </a:xfrm>
          <a:prstGeom prst="rect">
            <a:avLst/>
          </a:prstGeom>
          <a:solidFill>
            <a:srgbClr val="FBE6E7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1417320"/>
            <a:ext cx="54864" cy="129844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149961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· 现有系统为何失败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1783080"/>
            <a:ext cx="2807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现有系统把多人发言压成一条「user」记忆，分工糊成一团 —— 问「谁做评测」只能猜或张冠李戴。GroupMemBench 上这类归属错误占比最高。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5532120" y="2798064"/>
            <a:ext cx="3154680" cy="1243584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2798064"/>
            <a:ext cx="54864" cy="12435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0" y="288036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怎么解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3163824"/>
            <a:ext cx="2807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动作空间强制 speaker_id + per_speaker_core 分层存 + SpeakerLevenshtein 按说话人分桶奖励 —— 每条事实硬锚定到人。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4114800"/>
            <a:ext cx="7918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适用领域： 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企业协作　·　会议纪要　·　项目管理　·　多 agent 协作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核心能力示例 2 / 6 · 跨说话人引用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记住「谁说的」和「说的是谁」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CRM、合规审计、法律取证（provenance 是硬需求）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37944"/>
            <a:ext cx="329184" cy="329184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1810512"/>
            <a:ext cx="4434840" cy="585216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1051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 上次提过，他想从测试转去做开发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688336"/>
            <a:ext cx="4434840" cy="585216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8833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Dave：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哦？他不是一直做测试吗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4855464" cy="493776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4787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 </a:t>
            </a:r>
            <a:r>
              <a:rPr lang="en-US" sz="860" dirty="0" err="1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想转岗吗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  →  </a:t>
            </a:r>
            <a:r>
              <a:rPr lang="en-US" sz="860" b="1" dirty="0" err="1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是（Alice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60" b="1" dirty="0" err="1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转述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8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 err="1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这条谁说的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= Alice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532120" y="1417320"/>
            <a:ext cx="3154680" cy="1298448"/>
          </a:xfrm>
          <a:prstGeom prst="rect">
            <a:avLst/>
          </a:prstGeom>
          <a:solidFill>
            <a:srgbClr val="FBE6E7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417320"/>
            <a:ext cx="54864" cy="129844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49961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· 现有系统为何失败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1783080"/>
            <a:ext cx="2807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信息主体是 Bob、来源是 Alice。现有系统要么把它记成 Alice 的事，要么丢掉来源 —— 合规 / 审计必须保留「谁说的」。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532120" y="2798064"/>
            <a:ext cx="3154680" cy="1243584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2798064"/>
            <a:ext cx="54864" cy="12435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88036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怎么解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3163824"/>
            <a:ext cx="2807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 entry 同时存 speaker_id（来源）与 content（主体）+ links 关联两个说话人；READ_CROSS 带访问控制。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114800"/>
            <a:ext cx="7918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适用领域： 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CRM　·　合规审计　·　法律取证　·　多 agent 溯源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核心能力示例 3 / 6 · 同类实体不合并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大群组里，同类实体不能错并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医疗多学科会诊 / 在线教育（一师多生）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329184" cy="329184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1673352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733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张医生：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我这位患者血糖偏高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258568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58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李医生：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我接的是术后感染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329184" cy="329184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" y="2843784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8437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王医生：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我的患者心率不齐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4855464" cy="493776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54787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李医生的患者什么情况？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术后感染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532120" y="1417320"/>
            <a:ext cx="3154680" cy="1298448"/>
          </a:xfrm>
          <a:prstGeom prst="rect">
            <a:avLst/>
          </a:prstGeom>
          <a:solidFill>
            <a:srgbClr val="FBE6E7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417320"/>
            <a:ext cx="54864" cy="129844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149961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· 现有系统为何失败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1783080"/>
            <a:ext cx="2807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多人都在谈「我的患者 / 我的症状」，同类实体极易被合并成一团；规模越大越糊。EverMemBench 上 Oracle 多跳归因仅约 26%。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5532120" y="2798064"/>
            <a:ext cx="3154680" cy="1243584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2798064"/>
            <a:ext cx="54864" cy="12435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288036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怎么解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3163824"/>
            <a:ext cx="2807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 s_owner + per-speaker 分层，从结构上禁止跨人 merge；worst-speaker bonus 不放过最难归属的人。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114800"/>
            <a:ext cx="7918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适用领域： 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医疗会诊　·　在线教育　·　多用户助手　·　大型社群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核心能力示例 4 / 6 · 冲突信念按人分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各持己见，按人记住不同立场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/ 评审会议、multi-agent 辩论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329184" cy="329184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1673352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733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这版我主张上 PyTorch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258568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58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我坚持 JAX，编译更快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329184" cy="329184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" y="2843784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8437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Carol：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我都行，听大家的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4855464" cy="493776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54787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Bob 倾向哪个？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JAX</a:t>
            </a:r>
            <a:endParaRPr lang="en-US" sz="8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谁主张 PyTorch？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532120" y="1417320"/>
            <a:ext cx="3154680" cy="1298448"/>
          </a:xfrm>
          <a:prstGeom prst="rect">
            <a:avLst/>
          </a:prstGeom>
          <a:solidFill>
            <a:srgbClr val="FBE6E7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417320"/>
            <a:ext cx="54864" cy="129844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149961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· 现有系统为何失败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1783080"/>
            <a:ext cx="2807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同一议题各人观点冲突，现有系统常取「最后一条」或合并成单一结论，丢掉「谁持什么立场」。决策复盘 / 多 agent 协作必须保留分歧。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5532120" y="2798064"/>
            <a:ext cx="3154680" cy="1243584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2798064"/>
            <a:ext cx="54864" cy="12435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6" name="Text 24"/>
          <p:cNvSpPr/>
          <p:nvPr/>
        </p:nvSpPr>
        <p:spPr>
          <a:xfrm>
            <a:off x="5715000" y="288036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怎么解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3163824"/>
            <a:ext cx="2807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per-speaker 各记一份信念，UPDATE 不覆盖他人；检索时按 speaker 返回各自立场。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114800"/>
            <a:ext cx="7918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适用领域： 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决策会议　·　评审 / 投票　·　multi-agent　·　舆情 / 民调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核心能力示例 5 / 6 · per-speaker 时序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每个人的状态，各有时间线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 / 心理咨询、销售 CRM、健康随访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37944"/>
            <a:ext cx="329184" cy="329184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1810512"/>
            <a:ext cx="4434840" cy="585216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1051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3 天）我在 A 公司做后端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329184" cy="329184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688336"/>
            <a:ext cx="4434840" cy="585216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8833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20 天）跳槽去 B 公司了，转做算法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4855464" cy="493776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4787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 现在在哪？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公司做算法</a:t>
            </a:r>
            <a:endParaRPr lang="en-US" sz="8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她之前呢？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公司后端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532120" y="1417320"/>
            <a:ext cx="3154680" cy="1298448"/>
          </a:xfrm>
          <a:prstGeom prst="rect">
            <a:avLst/>
          </a:prstGeom>
          <a:solidFill>
            <a:srgbClr val="FBE6E7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417320"/>
            <a:ext cx="54864" cy="129844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49961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· 现有系统为何失败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1783080"/>
            <a:ext cx="2807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每个说话人的事实独立演化。现有系统 UPDATE 多是 destructive 覆盖，丢掉历史；问「现在 / 之前」答不全。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532120" y="2798064"/>
            <a:ext cx="3154680" cy="1243584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2798064"/>
            <a:ext cx="54864" cy="12435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88036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怎么解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3163824"/>
            <a:ext cx="2807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per_speaker_episodic 时间索引层 + 非破坏性 UPDATE + PROMOTE（反复出现 → 核心），保留可追溯演化。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114800"/>
            <a:ext cx="7918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适用领域： 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 / 心理咨询　·　销售 CRM　·　健康随访　·　长期个人助理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核心能力示例 6 / 6 · 群体 vs 个体 + 隐私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分清「群里共识」与「个人偏好」，并按人保密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 / companion、企业合规、医疗隐私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37944"/>
            <a:ext cx="329184" cy="329184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" y="1810512"/>
            <a:ext cx="4434840" cy="585216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1051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项目统一用 Slack 沟通（共识）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329184" cy="329184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" y="2688336"/>
            <a:ext cx="4434840" cy="585216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8833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Alice：</a:t>
            </a:r>
            <a:r>
              <a:rPr lang="en-US" sz="8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（私下·不含 Carol）我更习惯飞书；在看新机会，别让 Carol 知道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4855464" cy="493776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47872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项目用什么工具？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Slack（群规范）</a:t>
            </a:r>
            <a:endParaRPr lang="en-US" sz="8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6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</a:t>
            </a:r>
            <a:r>
              <a:rPr lang="en-US" sz="86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Carol 问 Alice 近况？  →  </a:t>
            </a:r>
            <a:r>
              <a:rPr lang="en-US" sz="86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不泄漏跳槽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532120" y="1417320"/>
            <a:ext cx="3154680" cy="1298448"/>
          </a:xfrm>
          <a:prstGeom prst="rect">
            <a:avLst/>
          </a:prstGeom>
          <a:solidFill>
            <a:srgbClr val="FBE6E7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417320"/>
            <a:ext cx="54864" cy="129844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49961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· 现有系统为何失败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1783080"/>
            <a:ext cx="2807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群体级 ≠ 个体级，易混；且回答要看「谁在问」。现有系统既会把群规范当个人偏好，也会无差别泄漏隐私。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532120" y="2798064"/>
            <a:ext cx="3154680" cy="1243584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2798064"/>
            <a:ext cx="54864" cy="12435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880360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怎么解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3163824"/>
            <a:ext cx="2807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group_insight（群规范）与 per_speaker_core（个体）分层 + audience_set 访问控制 + R_leak 泄漏惩罚。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114800"/>
            <a:ext cx="7918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适用领域： </a:t>
            </a: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 / companion　·　企业合规(GDPR)　·　医疗隐私　·　多租户助手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SpeakerMem-R1 · 核心创新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三大技术贡献：奖励 · 信用分配 · 记忆结构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560320" cy="109728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728216"/>
            <a:ext cx="676656" cy="676656"/>
          </a:xfrm>
          <a:prstGeom prst="ellipse">
            <a:avLst/>
          </a:prstGeom>
          <a:solidFill>
            <a:srgbClr val="E0F4F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019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31136" y="169164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CE3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76656" y="2532888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SpeakerLevenshtein 奖励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" y="3172968"/>
            <a:ext cx="2139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per-speaker 分桶的稠密奖励，区分「归因错误」与「事实错误」，并设 worst-speaker bonus 防止忽略最难说话人。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676656" y="4050792"/>
            <a:ext cx="21214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160520"/>
            <a:ext cx="182880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4087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扩展自 </a:t>
            </a:r>
            <a:r>
              <a:rPr lang="en-US" sz="90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DeltaMem 的 flat Levenshtein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91840" y="1417320"/>
            <a:ext cx="2560320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91840" y="1417320"/>
            <a:ext cx="2560320" cy="109728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7" name="Shape 13"/>
          <p:cNvSpPr/>
          <p:nvPr/>
        </p:nvSpPr>
        <p:spPr>
          <a:xfrm>
            <a:off x="3511296" y="1728216"/>
            <a:ext cx="676656" cy="676656"/>
          </a:xfrm>
          <a:prstGeom prst="ellipse">
            <a:avLst/>
          </a:prstGeom>
          <a:solidFill>
            <a:srgbClr val="ECE9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90195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65776" y="169164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CFC8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3511296" y="2532888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Speaker-Conditioned LoGo-GRPO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511296" y="3172968"/>
            <a:ext cx="2139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rerollout 按 active speaker set 分层，保证组内比较「相同说话人分布」，奖励才可比。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3511296" y="4050792"/>
            <a:ext cx="21214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160520"/>
            <a:ext cx="182880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49040" y="4087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扩展自 </a:t>
            </a:r>
            <a:r>
              <a:rPr lang="en-US" sz="90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Memory-R2 的 LoGo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26480" y="1417320"/>
            <a:ext cx="2560320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26480" y="1417320"/>
            <a:ext cx="2560320" cy="10972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7" name="Shape 21"/>
          <p:cNvSpPr/>
          <p:nvPr/>
        </p:nvSpPr>
        <p:spPr>
          <a:xfrm>
            <a:off x="6345936" y="1728216"/>
            <a:ext cx="676656" cy="676656"/>
          </a:xfrm>
          <a:prstGeom prst="ellipse">
            <a:avLst/>
          </a:prstGeom>
          <a:solidFill>
            <a:srgbClr val="FBEFD9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1901952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00416" y="169164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9C9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3000" dirty="0"/>
          </a:p>
        </p:txBody>
      </p:sp>
      <p:sp>
        <p:nvSpPr>
          <p:cNvPr id="30" name="Text 23"/>
          <p:cNvSpPr/>
          <p:nvPr/>
        </p:nvSpPr>
        <p:spPr>
          <a:xfrm>
            <a:off x="6345936" y="2532888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 Speaker-Indexed Memory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345936" y="3172968"/>
            <a:ext cx="2139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per-speaker（core / episodic / profile）+ group（interaction / insight），直接对应 5 类失败模式。</a:t>
            </a:r>
            <a:endParaRPr lang="en-US" sz="980" dirty="0"/>
          </a:p>
        </p:txBody>
      </p:sp>
      <p:sp>
        <p:nvSpPr>
          <p:cNvPr id="32" name="Shape 25"/>
          <p:cNvSpPr/>
          <p:nvPr/>
        </p:nvSpPr>
        <p:spPr>
          <a:xfrm>
            <a:off x="6345936" y="4050792"/>
            <a:ext cx="21214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4160520"/>
            <a:ext cx="182880" cy="1645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83680" y="4087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扩展自 </a:t>
            </a:r>
            <a:r>
              <a:rPr lang="en-US" sz="9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平铺 fact store → 层次化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方法展开 ① · 奖励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SpeakerLevenshtein：按说话人分桶的稠密奖励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26280" cy="3072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63624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总状态奖励  R_state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911096"/>
            <a:ext cx="4123944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911096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R_state = avg_s(LevF1_s) + μ·min_s(LevF1_s) + R_leak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58368" y="2551176"/>
            <a:ext cx="54864" cy="438912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328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avg_s(LevF1_s)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5234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按说话人均值：每个说话人单独算 Levenshtein F1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" y="3099816"/>
            <a:ext cx="54864" cy="43891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81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μ·min_s(LevF1_s)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30098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worst-speaker bonus：防止在最难说话人上「摆烂」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3648456"/>
            <a:ext cx="54864" cy="438912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01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R_leak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84962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跨说话人泄漏惩罚：Alice 的事进 Bob 桶则扣分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" y="4160520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LevF1_s：在嵌入余弦相似度上做 optimal transport（Hungarian）匹配 + 阈值 τ + 词面保真度（沿用 DeltaMem）。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257800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per-speaker 不是 trivial（朴素拼接会失败）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57800" y="1728216"/>
            <a:ext cx="3429000" cy="841248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1728216"/>
            <a:ext cx="54864" cy="84124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2" name="Text 20"/>
          <p:cNvSpPr/>
          <p:nvPr/>
        </p:nvSpPr>
        <p:spPr>
          <a:xfrm>
            <a:off x="542239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8A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24728" y="18379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归属-内容混淆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24728" y="207568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Levenshtein 对「事实错」（Alice→Google 而非 ByteDance）与「归属错」（Alice 的事进 Bob 桶）施加相同惩罚 —— agent 学不会该先修哪个。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57800" y="2660904"/>
            <a:ext cx="3429000" cy="841248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57800" y="2660904"/>
            <a:ext cx="54864" cy="84124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7" name="Text 25"/>
          <p:cNvSpPr/>
          <p:nvPr/>
        </p:nvSpPr>
        <p:spPr>
          <a:xfrm>
            <a:off x="5422392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8A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24728" y="27706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说话人不均衡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24728" y="3008376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跨说话人平均 → 在 K−1 个简单说话人成功、却忽略最难的那个。worst-speaker bonus 显式纠正这一退化。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57800" y="3739896"/>
            <a:ext cx="3429000" cy="749808"/>
          </a:xfrm>
          <a:prstGeom prst="rect">
            <a:avLst/>
          </a:prstGeom>
          <a:solidFill>
            <a:srgbClr val="12183A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3739896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数据支撑：</a:t>
            </a:r>
            <a:r>
              <a:rPr lang="en-US" sz="920" dirty="0">
                <a:solidFill>
                  <a:srgbClr val="D7DE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GroupMemBench 上归属错误是主要失败模式 —— 知识更新类 27.1%、术语歧义类 37.7%。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方法展开 ② · 信用分配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SC-LoGo-GRPO：公平比较是逻辑必然，非便利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361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为什么说话人条件化是逻辑必然：</a:t>
            </a:r>
            <a:r>
              <a:rPr lang="en-US" sz="1030" dirty="0">
                <a:solidFill>
                  <a:srgbClr val="DDE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Memory-R2 的 LoGo 只保证「相同起始记忆状态」；多方还要求「相同 active speaker set」—— 因为「只有 Alice 发言的一轮」与「Alice、Bob 互相谈论的一轮」记忆操作策略本质不同。没有它，组内比较与全局比较一样不公平。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457200" y="2487168"/>
            <a:ext cx="39776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487168"/>
            <a:ext cx="54864" cy="1243584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633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5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说话人条件化 local rerollout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29443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个 local rollout 共享同一中间记忆状态 M_m，并且共享同一 active speaker set —— 保证相同语境内的公平比较。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640080" y="3419856"/>
            <a:ext cx="3611880" cy="256032"/>
          </a:xfrm>
          <a:prstGeom prst="rect">
            <a:avLst/>
          </a:prstGeom>
          <a:solidFill>
            <a:srgbClr val="ECE9FB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D5B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T_local = {r_1,…,r_G}  from  (M_m, 后续轮次, speakers)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709160" y="2487168"/>
            <a:ext cx="39776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2487168"/>
            <a:ext cx="54864" cy="1243584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633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按说话人自适应信用（借 CoMAM）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92040" y="29443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用「每个说话人 local reward 与 global reward 的对齐度」算信用权重：贡献越大的说话人，获得越多梯度信号。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4892040" y="3419856"/>
            <a:ext cx="3611880" cy="256032"/>
          </a:xfrm>
          <a:prstGeom prst="rect">
            <a:avLst/>
          </a:prstGeom>
          <a:solidFill>
            <a:srgbClr val="E0F4F9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α_s = normalize( Spearman( R_local_s , R_global ) )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4114800"/>
            <a:ext cx="54864" cy="384048"/>
          </a:xfrm>
          <a:prstGeom prst="rect">
            <a:avLst/>
          </a:prstGeom>
          <a:solidFill>
            <a:srgbClr val="27347A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1148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联合目标   </a:t>
            </a:r>
            <a:r>
              <a:rPr lang="en-US" sz="1000" b="1" dirty="0">
                <a:solidFill>
                  <a:srgbClr val="273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L_global + λ·L_local + β·L_KL</a:t>
            </a: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（KL 正则项防止 Echo Trap）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方法展开 ③ · 记忆结构 &amp; 总奖励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层记忆精准对应 5 类失败模式 + 完整奖励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074920" cy="23317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作用域 · 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对应失败模式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M_core^s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单说话人 · 持久事实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单流混淆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M_episodic^s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单说话人 · 时间情节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时序状态覆盖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M_profile^s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单说话人 · 风格偏好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实体合并（唯一 owner）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6D5B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M_interact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群组 · 跨说话人关系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跨人格知识鸿沟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6D5BD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M_insight</a:t>
                      </a:r>
                      <a:endParaRPr lang="en-US" sz="8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群组 · 高层元知识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DC4A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规范-个体混淆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130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9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每条目 =（s_owner, content, 受众集合 A_e, 层 l_e, 轮次 t_e），受众集合即显式访问控制。</a:t>
            </a:r>
            <a:endParaRPr lang="en-US" sz="790" dirty="0"/>
          </a:p>
        </p:txBody>
      </p:sp>
      <p:sp>
        <p:nvSpPr>
          <p:cNvPr id="7" name="Shape 4"/>
          <p:cNvSpPr/>
          <p:nvPr/>
        </p:nvSpPr>
        <p:spPr>
          <a:xfrm>
            <a:off x="5806440" y="1417320"/>
            <a:ext cx="2880360" cy="3063240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07608" y="15819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完整奖励函数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07608" y="196596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AE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· R_task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6007608" y="213969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outcome：答案 token-level F1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07608" y="238658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E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 · R_state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6007608" y="256032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稠密过程（主导）：SpeakerLevenshtein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07608" y="280720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 · R_attr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6007608" y="2980944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说话人归属准确率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07608" y="322783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 · R_aud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6007608" y="340156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受众适配得分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07608" y="36484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AE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0.1·R_compr + 0.1·R_RIF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6007608" y="382219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结构：压缩率 + 遗忘恰当性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007608" y="414223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R_state 权重 0.8 主导：</a:t>
            </a:r>
            <a:r>
              <a:rPr lang="en-US" sz="80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DeltaMem 实证 —— 稠密过程奖励比 outcome 更快收敛。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29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SpeakerMem-R1 · 训练流程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三阶段：SFT 热启动 → Joint RL → 端到端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1518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15184" cy="475488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4825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热启动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role-masked SFT（借用 MuPaS），用合成数据热启动。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2249424" cy="603504"/>
          </a:xfrm>
          <a:prstGeom prst="rect">
            <a:avLst/>
          </a:prstGeom>
          <a:solidFill>
            <a:srgbClr val="E0F4F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054096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通过标准：speaker attribution F1 &gt; 50%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092" y="2377440"/>
            <a:ext cx="292608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264408" y="1463040"/>
            <a:ext cx="261518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4408" y="1463040"/>
            <a:ext cx="2615184" cy="475488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5" name="Text 12"/>
          <p:cNvSpPr/>
          <p:nvPr/>
        </p:nvSpPr>
        <p:spPr>
          <a:xfrm>
            <a:off x="3447288" y="1463040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47288" y="204825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Joint RL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447288" y="2395728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SpeakerMem-GRPO，二维课程逐步加难。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47288" y="3054096"/>
            <a:ext cx="2249424" cy="603504"/>
          </a:xfrm>
          <a:prstGeom prst="rect">
            <a:avLst/>
          </a:prstGeom>
          <a:solidFill>
            <a:srgbClr val="ECE9FB"/>
          </a:solidFill>
          <a:ln/>
        </p:spPr>
      </p:sp>
      <p:sp>
        <p:nvSpPr>
          <p:cNvPr id="19" name="Text 16"/>
          <p:cNvSpPr/>
          <p:nvPr/>
        </p:nvSpPr>
        <p:spPr>
          <a:xfrm>
            <a:off x="3557016" y="3054096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课程：说话人 K=3→5→8 × session 8→16→32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377440"/>
            <a:ext cx="292608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071616" y="1463040"/>
            <a:ext cx="261518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71616" y="1463040"/>
            <a:ext cx="2615184" cy="47548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3" name="Text 19"/>
          <p:cNvSpPr/>
          <p:nvPr/>
        </p:nvSpPr>
        <p:spPr>
          <a:xfrm>
            <a:off x="6254496" y="1463040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254496" y="204825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端到端联合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6254496" y="2395728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Construction + Retrieval + Answer 联合优化。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54496" y="3054096"/>
            <a:ext cx="2249424" cy="603504"/>
          </a:xfrm>
          <a:prstGeom prst="rect">
            <a:avLst/>
          </a:prstGeom>
          <a:solidFill>
            <a:srgbClr val="FBEFD9"/>
          </a:solidFill>
          <a:ln/>
        </p:spPr>
      </p:sp>
      <p:sp>
        <p:nvSpPr>
          <p:cNvPr id="27" name="Text 23"/>
          <p:cNvSpPr/>
          <p:nvPr/>
        </p:nvSpPr>
        <p:spPr>
          <a:xfrm>
            <a:off x="6364224" y="3054096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三个子模块端到端协同，回填全部指标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7200" y="4041648"/>
            <a:ext cx="54864" cy="457200"/>
          </a:xfrm>
          <a:prstGeom prst="rect">
            <a:avLst/>
          </a:prstGeom>
          <a:solidFill>
            <a:srgbClr val="0EA5C4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14800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60704" y="404164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写作优势：</a:t>
            </a: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每个贡献都有对应的 dyadic 前置工作可对比，差异清晰 —— 利于回应「这不就是加个 speaker_id 吗」的质疑。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29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方法展开 · 训练循环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一条数据在 RL 里怎么走一遍（Stage 2）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0" cy="1508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46304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一条对话 → policy 逐轮处理 = 一条完整轨迹；采样 G=4 条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57200" y="1979676"/>
            <a:ext cx="365760" cy="36576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796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45436"/>
            <a:ext cx="0" cy="1508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1979676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每条轨迹用完整奖励 R 打分 → 4 个分数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365760" cy="36576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0" cy="1508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249631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group-relative：高于这组均值 → 正 advantage，低于 → 负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57200" y="3012948"/>
            <a:ext cx="365760" cy="36576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2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378708"/>
            <a:ext cx="0" cy="1508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01294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GRPO：抬高高分轨迹里的记忆动作概率，压低低分的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365760" cy="365760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3895344"/>
            <a:ext cx="0" cy="1508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52958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SC-LoGo 局部分支：中段固定「相同记忆 + 相同在场说话人」再分叉比较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57200" y="4046220"/>
            <a:ext cx="365760" cy="3657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46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" y="404622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L_total = L_global + λ·L_local + β·KL → 更新这一个模型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172200" y="1463040"/>
            <a:ext cx="2514600" cy="3017520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73368" y="1645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 = 打分老师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73368" y="1993392"/>
            <a:ext cx="2112264" cy="603504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31" name="Text 29"/>
          <p:cNvSpPr/>
          <p:nvPr/>
        </p:nvSpPr>
        <p:spPr>
          <a:xfrm>
            <a:off x="6483096" y="1993392"/>
            <a:ext cx="1911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E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0.5·R_task + 0.8·R_state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EA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+ 0.3·R_attr + 0.2·R_aud …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91656" y="2862072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33" name="Text 31"/>
          <p:cNvSpPr/>
          <p:nvPr/>
        </p:nvSpPr>
        <p:spPr>
          <a:xfrm>
            <a:off x="6592824" y="27889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R_state（主导）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92824" y="300837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逐轮、按说话人分桶的稠密反馈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391656" y="3392424"/>
            <a:ext cx="118872" cy="118872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6" name="Text 34"/>
          <p:cNvSpPr/>
          <p:nvPr/>
        </p:nvSpPr>
        <p:spPr>
          <a:xfrm>
            <a:off x="6592824" y="331927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R_task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92824" y="3538728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episode 末的结果反馈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6391656" y="3922776"/>
            <a:ext cx="118872" cy="11887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9" name="Text 37"/>
          <p:cNvSpPr/>
          <p:nvPr/>
        </p:nvSpPr>
        <p:spPr>
          <a:xfrm>
            <a:off x="6592824" y="3849624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标准答案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92824" y="406908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全部来自合成数据的标注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29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已完成产出清单 · 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6 模块 + 论文 7 章（实验数字待填）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12064" cy="512064"/>
          </a:xfrm>
          <a:prstGeom prst="ellipse">
            <a:avLst/>
          </a:prstGeom>
          <a:solidFill>
            <a:srgbClr val="E0F4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28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代码框架 · 6 模块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00400" y="1636776"/>
            <a:ext cx="1207008" cy="274320"/>
          </a:xfrm>
          <a:prstGeom prst="roundRect">
            <a:avLst>
              <a:gd name="adj" fmla="val 40000"/>
            </a:avLst>
          </a:prstGeom>
          <a:solidFill>
            <a:srgbClr val="E1F5EC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16367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dry-run / mock 通过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1031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0756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speaker_levenshtein.py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788920" y="20756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SpeakerLevenshtein 奖励函数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37744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3500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speaker_aware_memory.py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2788920" y="23500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层记忆数据结构</a:t>
            </a:r>
            <a:endParaRPr lang="en-US" sz="8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65176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26243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synthetic_data_pipeline.py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2788920" y="2624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合成数据 pipeline（接 GPT-4）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926080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28986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memory_agent.py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2788920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阶段 Agent</a:t>
            </a:r>
            <a:endParaRPr lang="en-US" sz="8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200400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4400" y="3172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grpo_trainer.py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2788920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SC-LoGo-GRPO 训练循环</a:t>
            </a:r>
            <a:endParaRPr lang="en-US" sz="8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474720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4400" y="34472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evaluation.py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2788920" y="34472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三个多方 benchmark 评测接口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4846320" y="1417320"/>
            <a:ext cx="3840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029200" y="1600200"/>
            <a:ext cx="512064" cy="512064"/>
          </a:xfrm>
          <a:prstGeom prst="ellipse">
            <a:avLst/>
          </a:prstGeom>
          <a:solidFill>
            <a:srgbClr val="ECE9FB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1728216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65099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论文草稿 · 7 章成稿</a:t>
            </a:r>
            <a:endParaRPr lang="en-US" sz="135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2103120"/>
            <a:ext cx="164592" cy="16459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03520" y="2075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Abstract + Introduction</a:t>
            </a:r>
            <a:endParaRPr lang="en-US" sz="95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2377440"/>
            <a:ext cx="164592" cy="16459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303520" y="23500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Work（含 R²-Mem 更新）</a:t>
            </a:r>
            <a:endParaRPr lang="en-US" sz="95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2651760"/>
            <a:ext cx="164592" cy="16459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303520" y="26243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Method（§3.1–3.8，含完整公式）</a:t>
            </a:r>
            <a:endParaRPr lang="en-US" sz="95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2926080"/>
            <a:ext cx="164592" cy="16459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303520" y="2898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Experiments（9 baseline · 7 消融 · 3 case 框架）</a:t>
            </a:r>
            <a:endParaRPr lang="en-US" sz="95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200400"/>
            <a:ext cx="164592" cy="16459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5303520" y="31729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 ＋ Appendix（§A–E）</a:t>
            </a:r>
            <a:endParaRPr lang="en-US" sz="95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474720"/>
            <a:ext cx="164592" cy="16459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5303520" y="34472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AAAI 写作指南 ＋ 31 条 BibTeX</a:t>
            </a:r>
            <a:endParaRPr lang="en-US" sz="950" dirty="0"/>
          </a:p>
        </p:txBody>
      </p:sp>
      <p:sp>
        <p:nvSpPr>
          <p:cNvPr id="45" name="Shape 29"/>
          <p:cNvSpPr/>
          <p:nvPr/>
        </p:nvSpPr>
        <p:spPr>
          <a:xfrm>
            <a:off x="457200" y="3968496"/>
            <a:ext cx="8229600" cy="512064"/>
          </a:xfrm>
          <a:prstGeom prst="rect">
            <a:avLst/>
          </a:prstGeom>
          <a:solidFill>
            <a:srgbClr val="FBE6E7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6" name="Shape 30"/>
          <p:cNvSpPr/>
          <p:nvPr/>
        </p:nvSpPr>
        <p:spPr>
          <a:xfrm>
            <a:off x="457200" y="3968496"/>
            <a:ext cx="54864" cy="512064"/>
          </a:xfrm>
          <a:prstGeom prst="rect">
            <a:avLst/>
          </a:prstGeom>
          <a:solidFill>
            <a:srgbClr val="DC4A52"/>
          </a:solidFill>
          <a:ln/>
        </p:spPr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078224"/>
            <a:ext cx="292608" cy="292608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1060704" y="3968496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尚缺：</a:t>
            </a: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所有模块均未真实训练，所有实验数字为占位符 —— 这是距「Highlight」的唯一差距。</a:t>
            </a:r>
            <a:endParaRPr lang="en-US" sz="1050" dirty="0"/>
          </a:p>
        </p:txBody>
      </p:sp>
      <p:sp>
        <p:nvSpPr>
          <p:cNvPr id="49" name="Text 32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50" name="Text 33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29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当前自评 · 距 Highlight 的差距全在实验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Soundness 是唯一硬伤，差实验数字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9080" y="1490472"/>
            <a:ext cx="0" cy="2514600"/>
          </a:xfrm>
          <a:prstGeom prst="line">
            <a:avLst/>
          </a:prstGeom>
          <a:noFill/>
          <a:ln w="12700">
            <a:solidFill>
              <a:srgbClr val="E08A1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429000" y="1216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 线 ≈ 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673352"/>
            <a:ext cx="27432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1874520" y="1673352"/>
            <a:ext cx="2468880" cy="31089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0" name="Text 8"/>
          <p:cNvSpPr/>
          <p:nvPr/>
        </p:nvSpPr>
        <p:spPr>
          <a:xfrm>
            <a:off x="4416552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/ 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74520" y="1984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零篇先行者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2313432"/>
            <a:ext cx="27432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1874520" y="2313432"/>
            <a:ext cx="2331720" cy="31089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 / 10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74520" y="2624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benchmark 证明系统性失败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74520" y="2953512"/>
            <a:ext cx="27432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1874520" y="2953512"/>
            <a:ext cx="1783080" cy="310896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20" name="Text 18"/>
          <p:cNvSpPr/>
          <p:nvPr/>
        </p:nvSpPr>
        <p:spPr>
          <a:xfrm>
            <a:off x="3730752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4A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6.5 / 10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74520" y="3264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实验全未做 — 唯一硬伤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74520" y="3593592"/>
            <a:ext cx="27432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1874520" y="3593592"/>
            <a:ext cx="2331720" cy="31089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5" name="Text 23"/>
          <p:cNvSpPr/>
          <p:nvPr/>
        </p:nvSpPr>
        <p:spPr>
          <a:xfrm>
            <a:off x="4279392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 / 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74520" y="39044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概念统一 speaker-grounded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89320" y="1481328"/>
            <a:ext cx="2697480" cy="2999232"/>
          </a:xfrm>
          <a:prstGeom prst="rect">
            <a:avLst/>
          </a:prstGeom>
          <a:solidFill>
            <a:srgbClr val="12183A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45352" y="1700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 · V9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08776" y="1956816"/>
            <a:ext cx="225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EA5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7.75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6245352" y="268833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 7.4–7.75 ·「强提交」级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45352" y="3145536"/>
            <a:ext cx="2185416" cy="0"/>
          </a:xfrm>
          <a:prstGeom prst="line">
            <a:avLst/>
          </a:prstGeom>
          <a:noFill/>
          <a:ln w="12700">
            <a:solidFill>
              <a:srgbClr val="3340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45352" y="3300984"/>
            <a:ext cx="118872" cy="11887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3" name="Text 31"/>
          <p:cNvSpPr/>
          <p:nvPr/>
        </p:nvSpPr>
        <p:spPr>
          <a:xfrm>
            <a:off x="6464808" y="3218688"/>
            <a:ext cx="198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7DE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Novelty / Significance / Clarity 三项已达标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245352" y="3703320"/>
            <a:ext cx="118872" cy="118872"/>
          </a:xfrm>
          <a:prstGeom prst="ellipse">
            <a:avLst/>
          </a:prstGeom>
          <a:solidFill>
            <a:srgbClr val="DC4A52"/>
          </a:solidFill>
          <a:ln/>
        </p:spPr>
      </p:sp>
      <p:sp>
        <p:nvSpPr>
          <p:cNvPr id="35" name="Text 33"/>
          <p:cNvSpPr/>
          <p:nvPr/>
        </p:nvSpPr>
        <p:spPr>
          <a:xfrm>
            <a:off x="6464808" y="3621024"/>
            <a:ext cx="198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7DE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Soundness 6–7：实验全未做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245352" y="4105656"/>
            <a:ext cx="118872" cy="118872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7" name="Text 35"/>
          <p:cNvSpPr/>
          <p:nvPr/>
        </p:nvSpPr>
        <p:spPr>
          <a:xfrm>
            <a:off x="6464808" y="4023360"/>
            <a:ext cx="198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7DE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补上实验即可整体迈过 Highlight 线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29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关键风险与应对 · 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已为每个风险准备退路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977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54864" cy="65836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591056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82496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536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训练不收敛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1563624"/>
            <a:ext cx="1024128" cy="237744"/>
          </a:xfrm>
          <a:prstGeom prst="roundRect">
            <a:avLst>
              <a:gd name="adj" fmla="val 46154"/>
            </a:avLst>
          </a:prstGeom>
          <a:solidFill>
            <a:srgbClr val="FBEFD9"/>
          </a:solidFill>
          <a:ln/>
        </p:spPr>
      </p:sp>
      <p:sp>
        <p:nvSpPr>
          <p:cNvPr id="11" name="Text 8"/>
          <p:cNvSpPr/>
          <p:nvPr/>
        </p:nvSpPr>
        <p:spPr>
          <a:xfrm>
            <a:off x="3264408" y="15636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中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60704" y="179222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退路：只做 SFT + 轻量 RL，或转「benchmark 分析型」论文（仍可发 AAAI）。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709160" y="1444752"/>
            <a:ext cx="3977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444752"/>
            <a:ext cx="54864" cy="65836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5" name="Shape 12"/>
          <p:cNvSpPr/>
          <p:nvPr/>
        </p:nvSpPr>
        <p:spPr>
          <a:xfrm>
            <a:off x="4855464" y="1591056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682496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12664" y="1536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合成训练数据质量不足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516368" y="1563624"/>
            <a:ext cx="1024128" cy="237744"/>
          </a:xfrm>
          <a:prstGeom prst="roundRect">
            <a:avLst>
              <a:gd name="adj" fmla="val 46154"/>
            </a:avLst>
          </a:prstGeom>
          <a:solidFill>
            <a:srgbClr val="FBEFD9"/>
          </a:solidFill>
          <a:ln/>
        </p:spPr>
      </p:sp>
      <p:sp>
        <p:nvSpPr>
          <p:cNvPr id="19" name="Text 15"/>
          <p:cNvSpPr/>
          <p:nvPr/>
        </p:nvSpPr>
        <p:spPr>
          <a:xfrm>
            <a:off x="7516368" y="15636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中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5312664" y="179222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多源校验 + 人工抽检；必要时人工标注一小批种子数据兜底。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457200" y="2212848"/>
            <a:ext cx="3977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2212848"/>
            <a:ext cx="54864" cy="658368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3" name="Shape 19"/>
          <p:cNvSpPr/>
          <p:nvPr/>
        </p:nvSpPr>
        <p:spPr>
          <a:xfrm>
            <a:off x="603504" y="2359152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450592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60704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竞争者 7 月前抢发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3264408" y="2331720"/>
            <a:ext cx="1024128" cy="237744"/>
          </a:xfrm>
          <a:prstGeom prst="roundRect">
            <a:avLst>
              <a:gd name="adj" fmla="val 46154"/>
            </a:avLst>
          </a:prstGeom>
          <a:solidFill>
            <a:srgbClr val="E1F5EC"/>
          </a:solidFill>
          <a:ln/>
        </p:spPr>
      </p:sp>
      <p:sp>
        <p:nvSpPr>
          <p:cNvPr id="27" name="Text 22"/>
          <p:cNvSpPr/>
          <p:nvPr/>
        </p:nvSpPr>
        <p:spPr>
          <a:xfrm>
            <a:off x="3264408" y="233172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低 ~10%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060704" y="256032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一旦有初步结果立即 arXiv preprint 占坑。</a:t>
            </a:r>
            <a:endParaRPr lang="en-US" sz="880" dirty="0"/>
          </a:p>
        </p:txBody>
      </p:sp>
      <p:sp>
        <p:nvSpPr>
          <p:cNvPr id="29" name="Shape 24"/>
          <p:cNvSpPr/>
          <p:nvPr/>
        </p:nvSpPr>
        <p:spPr>
          <a:xfrm>
            <a:off x="4709160" y="2212848"/>
            <a:ext cx="3977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09160" y="2212848"/>
            <a:ext cx="54864" cy="658368"/>
          </a:xfrm>
          <a:prstGeom prst="rect">
            <a:avLst/>
          </a:prstGeom>
          <a:solidFill>
            <a:srgbClr val="DC4A52"/>
          </a:solidFill>
          <a:ln/>
        </p:spPr>
      </p:sp>
      <p:sp>
        <p:nvSpPr>
          <p:cNvPr id="31" name="Shape 26"/>
          <p:cNvSpPr/>
          <p:nvPr/>
        </p:nvSpPr>
        <p:spPr>
          <a:xfrm>
            <a:off x="4855464" y="2359152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2450592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12664" y="2304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时间窗口紧（约 7 周）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7516368" y="2331720"/>
            <a:ext cx="1024128" cy="237744"/>
          </a:xfrm>
          <a:prstGeom prst="roundRect">
            <a:avLst>
              <a:gd name="adj" fmla="val 46154"/>
            </a:avLst>
          </a:prstGeom>
          <a:solidFill>
            <a:srgbClr val="FBE6E7"/>
          </a:solidFill>
          <a:ln/>
        </p:spPr>
      </p:sp>
      <p:sp>
        <p:nvSpPr>
          <p:cNvPr id="35" name="Text 29"/>
          <p:cNvSpPr/>
          <p:nvPr/>
        </p:nvSpPr>
        <p:spPr>
          <a:xfrm>
            <a:off x="7516368" y="233172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高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5312664" y="256032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取决于时间线决策（见下一页路线图与待定问题）。</a:t>
            </a:r>
            <a:endParaRPr lang="en-US" sz="880" dirty="0"/>
          </a:p>
        </p:txBody>
      </p:sp>
      <p:sp>
        <p:nvSpPr>
          <p:cNvPr id="37" name="Shape 31"/>
          <p:cNvSpPr/>
          <p:nvPr/>
        </p:nvSpPr>
        <p:spPr>
          <a:xfrm>
            <a:off x="457200" y="2980944"/>
            <a:ext cx="3977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57200" y="2980944"/>
            <a:ext cx="54864" cy="6583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Shape 33"/>
          <p:cNvSpPr/>
          <p:nvPr/>
        </p:nvSpPr>
        <p:spPr>
          <a:xfrm>
            <a:off x="603504" y="3127248"/>
            <a:ext cx="365760" cy="36576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218688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060704" y="3072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/ 经费不到位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3264408" y="3099816"/>
            <a:ext cx="1024128" cy="237744"/>
          </a:xfrm>
          <a:prstGeom prst="roundRect">
            <a:avLst>
              <a:gd name="adj" fmla="val 46154"/>
            </a:avLst>
          </a:prstGeom>
          <a:solidFill>
            <a:srgbClr val="F1F5F9"/>
          </a:solidFill>
          <a:ln/>
        </p:spPr>
      </p:sp>
      <p:sp>
        <p:nvSpPr>
          <p:cNvPr id="43" name="Text 36"/>
          <p:cNvSpPr/>
          <p:nvPr/>
        </p:nvSpPr>
        <p:spPr>
          <a:xfrm>
            <a:off x="3264408" y="309981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待定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1060704" y="3328416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取决于实验室资源，待导师确认（约 4×A100 / ~$1,100）。</a:t>
            </a:r>
            <a:endParaRPr lang="en-US" sz="880" dirty="0"/>
          </a:p>
        </p:txBody>
      </p:sp>
      <p:sp>
        <p:nvSpPr>
          <p:cNvPr id="45" name="Shape 38"/>
          <p:cNvSpPr/>
          <p:nvPr/>
        </p:nvSpPr>
        <p:spPr>
          <a:xfrm>
            <a:off x="4709160" y="2980944"/>
            <a:ext cx="3977640" cy="658368"/>
          </a:xfrm>
          <a:prstGeom prst="rect">
            <a:avLst/>
          </a:prstGeom>
          <a:solidFill>
            <a:srgbClr val="E0F4F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4709160" y="2980944"/>
            <a:ext cx="54864" cy="658368"/>
          </a:xfrm>
          <a:prstGeom prst="rect">
            <a:avLst/>
          </a:prstGeom>
          <a:solidFill>
            <a:srgbClr val="0EA5C4"/>
          </a:solidFill>
          <a:ln/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163824"/>
            <a:ext cx="292608" cy="29260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276088" y="2980944"/>
            <a:ext cx="3264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2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整体姿态：</a:t>
            </a: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每条风险都有可执行退路，最大不确定性集中在「时间线 + 算力」两项 —— 正是需导师拍板处。</a:t>
            </a:r>
            <a:endParaRPr lang="en-US" sz="920" dirty="0"/>
          </a:p>
        </p:txBody>
      </p:sp>
      <p:sp>
        <p:nvSpPr>
          <p:cNvPr id="49" name="Text 41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29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3832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下一步规划 · 三阶段路线图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若冲刺 AAAI 2027：约 7 周窗口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26464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26464"/>
            <a:ext cx="2560320" cy="566928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9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即刻 – 6月</a:t>
            </a:r>
            <a:r>
              <a:rPr lang="zh-CN" altLang="en-US" sz="950" dirty="0">
                <a:solidFill>
                  <a:srgbClr val="F0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实验准备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542032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 合成 200 条训练数据（~$50–100）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58368" y="2926080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529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 benchmark，跑通 BM25 / Mem0 baseline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58368" y="3310128"/>
            <a:ext cx="91440" cy="91440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3697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Qwen-7B/8B 完成 Stage 1 SFT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91840" y="1426464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426464"/>
            <a:ext cx="2560320" cy="566928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1499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zh-CN" altLang="en-US" sz="950" dirty="0">
                <a:solidFill>
                  <a:srgbClr val="F0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月中旬</a:t>
            </a:r>
            <a:r>
              <a:rPr lang="en-US" altLang="zh-CN" sz="950" dirty="0">
                <a:solidFill>
                  <a:srgbClr val="F0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950" dirty="0">
                <a:solidFill>
                  <a:srgbClr val="F0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七月初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核心实验（~4×A100 / ~$1,100）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93008" y="2542032"/>
            <a:ext cx="91440" cy="91440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4688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Joint RL → 端到端训练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493008" y="2926080"/>
            <a:ext cx="91440" cy="91440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28529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三个多方 benchmark 主实验 + LoCoMo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493008" y="3310128"/>
            <a:ext cx="91440" cy="91440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23697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Top-3 必做消融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126480" y="1426464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426464"/>
            <a:ext cx="2560320" cy="566928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499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F0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七月中旬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写作投稿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27648" y="2542032"/>
            <a:ext cx="91440" cy="9144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4688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回填全部实验数字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327648" y="2926080"/>
            <a:ext cx="91440" cy="9144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28529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preprint 占坑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327648" y="3310128"/>
            <a:ext cx="91440" cy="9144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323697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 AAAI 2027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57200" y="3986784"/>
            <a:ext cx="8229600" cy="493776"/>
          </a:xfrm>
          <a:prstGeom prst="rect">
            <a:avLst/>
          </a:prstGeom>
          <a:solidFill>
            <a:srgbClr val="FBEFD9"/>
          </a:solidFill>
          <a:ln/>
          <a:effectLst>
            <a:outerShdw blurRad="101600" dist="38100" dir="8100000" algn="bl" rotWithShape="0">
              <a:srgbClr val="0F172A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986784"/>
            <a:ext cx="54864" cy="493776"/>
          </a:xfrm>
          <a:prstGeom prst="rect">
            <a:avLst/>
          </a:prstGeom>
          <a:solidFill>
            <a:srgbClr val="E08A1E"/>
          </a:solidFill>
          <a:ln/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78224"/>
            <a:ext cx="292608" cy="29260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24128" y="3986784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截止：</a:t>
            </a: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Abstract 7/21 ｜ Full Paper 7/28 ｜ 代码附录 7/31（距今约 50 天）。 </a:t>
            </a:r>
            <a:r>
              <a:rPr lang="en-US" sz="980" b="1" dirty="0">
                <a:solidFill>
                  <a:srgbClr val="D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CFP 年份需官方核实 —— 直接决定是否冲刺。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457200" y="48326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研究进度汇报  ·  2026-06-02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29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02336"/>
            <a:ext cx="137160" cy="13716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最需要导师拍板 · Decisions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个核心问题，请导师定调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3977640" cy="676656"/>
          </a:xfrm>
          <a:prstGeom prst="rect">
            <a:avLst/>
          </a:prstGeom>
          <a:solidFill>
            <a:srgbClr val="23284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35024"/>
            <a:ext cx="54864" cy="67665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517904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42416" y="140817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时间线取舍  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42416" y="164592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全力冲刺 AAAI 2027（风险高）vs 瞄准稍晚会议把实验做扎实？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977640" cy="676656"/>
          </a:xfrm>
          <a:prstGeom prst="rect">
            <a:avLst/>
          </a:prstGeom>
          <a:solidFill>
            <a:srgbClr val="23284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03120"/>
            <a:ext cx="54864" cy="67665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" y="2286000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21762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算力与经费  ★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42416" y="2414016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4×A100 + ~$1,100 训练 + ~$50–100 API，实验室可提供并排得上队？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3977640" cy="676656"/>
          </a:xfrm>
          <a:prstGeom prst="rect">
            <a:avLst/>
          </a:prstGeom>
          <a:solidFill>
            <a:srgbClr val="23284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871216"/>
            <a:ext cx="54864" cy="67665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054096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29443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8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训练数据策略  ★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42416" y="318211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纯合成能否支撑 RL 收敛？是否人工标注种子兜底？有无合作组真实数据？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3977640" cy="676656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639312"/>
            <a:ext cx="54864" cy="67665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3822192"/>
            <a:ext cx="310896" cy="310896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7124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基座模型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42416" y="3950208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Qwen2.5-7B-Instruct vs Qwen3-8B（对齐 DeltaMem 便于公平比较）？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09160" y="1335024"/>
            <a:ext cx="3977640" cy="676656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1335024"/>
            <a:ext cx="54864" cy="67665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2" name="Shape 30"/>
          <p:cNvSpPr/>
          <p:nvPr/>
        </p:nvSpPr>
        <p:spPr>
          <a:xfrm>
            <a:off x="4873752" y="1517904"/>
            <a:ext cx="310896" cy="310896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33" name="Text 31"/>
          <p:cNvSpPr/>
          <p:nvPr/>
        </p:nvSpPr>
        <p:spPr>
          <a:xfrm>
            <a:off x="4873752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94376" y="140817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 / 降级方案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94376" y="164592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RL 不收敛：SFT-only + 轻量 RL，还是转「分析型」论文？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709160" y="2103120"/>
            <a:ext cx="3977640" cy="676656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9160" y="2103120"/>
            <a:ext cx="54864" cy="67665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38" name="Shape 36"/>
          <p:cNvSpPr/>
          <p:nvPr/>
        </p:nvSpPr>
        <p:spPr>
          <a:xfrm>
            <a:off x="4873752" y="2286000"/>
            <a:ext cx="310896" cy="310896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94376" y="21762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preprint 占坑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94376" y="2414016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是否同意一旦有初步结果即发 arXiv preprint？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709160" y="2871216"/>
            <a:ext cx="3977640" cy="676656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43" name="Shape 41"/>
          <p:cNvSpPr/>
          <p:nvPr/>
        </p:nvSpPr>
        <p:spPr>
          <a:xfrm>
            <a:off x="4709160" y="2871216"/>
            <a:ext cx="54864" cy="676656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44" name="Shape 42"/>
          <p:cNvSpPr/>
          <p:nvPr/>
        </p:nvSpPr>
        <p:spPr>
          <a:xfrm>
            <a:off x="4873752" y="3054096"/>
            <a:ext cx="310896" cy="310896"/>
          </a:xfrm>
          <a:prstGeom prst="ellipse">
            <a:avLst/>
          </a:prstGeom>
          <a:solidFill>
            <a:srgbClr val="0EA5C4"/>
          </a:solidFill>
          <a:ln/>
        </p:spPr>
      </p:sp>
      <p:sp>
        <p:nvSpPr>
          <p:cNvPr id="45" name="Text 43"/>
          <p:cNvSpPr/>
          <p:nvPr/>
        </p:nvSpPr>
        <p:spPr>
          <a:xfrm>
            <a:off x="487375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94376" y="29443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是否拆第二篇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294376" y="318211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C7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SpeakerLevenshtein 独立成 short paper（EMNLP/ACL）并行推进？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457200" y="44988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= 最高优先（直接决定项目能否冲刺）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83260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29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108960" cy="3108960"/>
          </a:xfrm>
          <a:prstGeom prst="ellipse">
            <a:avLst/>
          </a:prstGeom>
          <a:solidFill>
            <a:srgbClr val="27347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3291840"/>
            <a:ext cx="2743200" cy="2743200"/>
          </a:xfrm>
          <a:prstGeom prst="ellipse">
            <a:avLst/>
          </a:prstGeom>
          <a:solidFill>
            <a:srgbClr val="0E7490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纸面准备已就位 —— novelty 零篇先行、7 章论文、6 模块代码；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唯一缺口是实验。请导师就 时间线 / 算力 / 数据 三件事定调。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1389888" cy="1078992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7" name="Shape 5"/>
          <p:cNvSpPr/>
          <p:nvPr/>
        </p:nvSpPr>
        <p:spPr>
          <a:xfrm>
            <a:off x="1197864" y="2843784"/>
            <a:ext cx="457200" cy="457200"/>
          </a:xfrm>
          <a:prstGeom prst="ellipse">
            <a:avLst/>
          </a:prstGeom>
          <a:solidFill>
            <a:srgbClr val="2328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296265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37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方法规格书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35387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SpeakerMem-R1-v2-方法spec.md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304288" y="2697480"/>
            <a:ext cx="1389888" cy="1078992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12" name="Shape 9"/>
          <p:cNvSpPr/>
          <p:nvPr/>
        </p:nvSpPr>
        <p:spPr>
          <a:xfrm>
            <a:off x="2770632" y="2843784"/>
            <a:ext cx="457200" cy="457200"/>
          </a:xfrm>
          <a:prstGeom prst="ellipse">
            <a:avLst/>
          </a:prstGeom>
          <a:solidFill>
            <a:srgbClr val="23284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296265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50008" y="3337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论文草稿 ×7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350008" y="35387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论文草稿-*.md ＋ .bib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877056" y="2697480"/>
            <a:ext cx="1389888" cy="1078992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17" name="Shape 13"/>
          <p:cNvSpPr/>
          <p:nvPr/>
        </p:nvSpPr>
        <p:spPr>
          <a:xfrm>
            <a:off x="4343400" y="2843784"/>
            <a:ext cx="457200" cy="457200"/>
          </a:xfrm>
          <a:prstGeom prst="ellipse">
            <a:avLst/>
          </a:prstGeom>
          <a:solidFill>
            <a:srgbClr val="23284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96265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22776" y="3337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篇详解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922776" y="35387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各论文 详解.md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5449824" y="2697480"/>
            <a:ext cx="1389888" cy="1078992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22" name="Shape 17"/>
          <p:cNvSpPr/>
          <p:nvPr/>
        </p:nvSpPr>
        <p:spPr>
          <a:xfrm>
            <a:off x="5916168" y="2843784"/>
            <a:ext cx="457200" cy="457200"/>
          </a:xfrm>
          <a:prstGeom prst="ellipse">
            <a:avLst/>
          </a:prstGeom>
          <a:solidFill>
            <a:srgbClr val="23284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96265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95544" y="3337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实验方案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95544" y="35387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数据合成Pipeline · 50天冲刺指南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7022592" y="2697480"/>
            <a:ext cx="1389888" cy="1078992"/>
          </a:xfrm>
          <a:prstGeom prst="rect">
            <a:avLst/>
          </a:prstGeom>
          <a:solidFill>
            <a:srgbClr val="1C2550"/>
          </a:solidFill>
          <a:ln/>
        </p:spPr>
      </p:sp>
      <p:sp>
        <p:nvSpPr>
          <p:cNvPr id="27" name="Shape 21"/>
          <p:cNvSpPr/>
          <p:nvPr/>
        </p:nvSpPr>
        <p:spPr>
          <a:xfrm>
            <a:off x="7488936" y="2843784"/>
            <a:ext cx="457200" cy="457200"/>
          </a:xfrm>
          <a:prstGeom prst="ellipse">
            <a:avLst/>
          </a:prstGeom>
          <a:solidFill>
            <a:srgbClr val="23284F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2962656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68312" y="3337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 ×6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068312" y="35387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核心代码实现/</a:t>
            </a:r>
            <a:endParaRPr lang="en-US" sz="700" dirty="0"/>
          </a:p>
        </p:txBody>
      </p:sp>
      <p:sp>
        <p:nvSpPr>
          <p:cNvPr id="31" name="Shape 24"/>
          <p:cNvSpPr/>
          <p:nvPr/>
        </p:nvSpPr>
        <p:spPr>
          <a:xfrm>
            <a:off x="731520" y="4160520"/>
            <a:ext cx="7680960" cy="0"/>
          </a:xfrm>
          <a:prstGeom prst="line">
            <a:avLst/>
          </a:prstGeom>
          <a:noFill/>
          <a:ln w="12700">
            <a:solidFill>
              <a:srgbClr val="31407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感谢，期待您的指点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66928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SpeakerMem-R1  ·  2026-06-02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3405</Words>
  <Application>Microsoft Office PowerPoint</Application>
  <PresentationFormat>全屏显示(16:9)</PresentationFormat>
  <Paragraphs>642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等线</vt:lpstr>
      <vt:lpstr>Microsoft YaHei</vt:lpstr>
      <vt:lpstr>Arial</vt:lpstr>
      <vt:lpstr>Arial Black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SpeakerMem-R1 研究进度汇报</dc:title>
  <dc:subject>PptxGenJS Presentation</dc:subject>
  <dc:creator>SpeakerMem-R1</dc:creator>
  <cp:lastModifiedBy>郑 浩博</cp:lastModifiedBy>
  <cp:revision>4</cp:revision>
  <dcterms:created xsi:type="dcterms:W3CDTF">2026-06-02T17:36:29Z</dcterms:created>
  <dcterms:modified xsi:type="dcterms:W3CDTF">2026-06-03T06:51:49Z</dcterms:modified>
</cp:coreProperties>
</file>