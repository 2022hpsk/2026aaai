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问题：多人对话里，AI 分不清「谁说了什么」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9105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5296" y="1371600"/>
            <a:ext cx="7269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为多方对话（3+ 人 / 群聊）设计可学习的、说话人锚定的记忆管理 —— 让 AI 正确地把每条信息归属到「正确的人、时间、受众」并据此作答。这是企业群聊 / 教育 / 医疗 / 客服的刚需，而现有系统集体失败。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4323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现有系统集体失败（硬数据）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0.12–0.18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50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开源记忆系统（Mem0/LangMem/Graphiti/Cognee）≈「没有记忆」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9184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91840" y="2706624"/>
            <a:ext cx="54864" cy="1078992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6" name="Text 13"/>
          <p:cNvSpPr/>
          <p:nvPr/>
        </p:nvSpPr>
        <p:spPr>
          <a:xfrm>
            <a:off x="343814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43814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43814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最强系统上限；连 BM25 都能追平 → 结构性缺陷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2648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1" name="Text 18"/>
          <p:cNvSpPr/>
          <p:nvPr/>
        </p:nvSpPr>
        <p:spPr>
          <a:xfrm>
            <a:off x="627278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~26%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27278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7278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即便给 Oracle 证据，多跳归因也只有这么多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005072"/>
            <a:ext cx="8229600" cy="493776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4005072"/>
            <a:ext cx="54864" cy="49377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4005072"/>
            <a:ext cx="7918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现有记忆抹掉了 speaker- / audience-grounded 结构线索。多方比 dyadic 多三个挑战 —— ① 说话人归属  ② 受众适配  ③ 跨说话人隐私。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17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benchmark 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拿什么衡量：三个多方 benchmark + 关键指标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43200"/>
                <a:gridCol w="21945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 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 / 维度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报告指标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图驱动合成 · 群组动态/归属/受众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 · F1 · attribution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最强 46%；BM25 追平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每实例 1M+ token · 2,400 QA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Recall@K · F1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Oracle 多跳归因 ~26%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430 personas · 5 类失败模式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per-category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0.12–0.18；目标 &gt;0.35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455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对照（证明 N=1 不退化）：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LoCoMo · LongMemEval · PersonaMem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34564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F1（核心）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326136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1" name="Text 8"/>
          <p:cNvSpPr/>
          <p:nvPr/>
        </p:nvSpPr>
        <p:spPr>
          <a:xfrm>
            <a:off x="326136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06552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3" name="Text 10"/>
          <p:cNvSpPr/>
          <p:nvPr/>
        </p:nvSpPr>
        <p:spPr>
          <a:xfrm>
            <a:off x="606552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acc（5 失败模式）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cross-speaker leakage rate（新增）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26136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7" name="Text 14"/>
          <p:cNvSpPr/>
          <p:nvPr/>
        </p:nvSpPr>
        <p:spPr>
          <a:xfrm>
            <a:off x="326136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F1（兼容性）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606552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9" name="Text 16"/>
          <p:cNvSpPr/>
          <p:nvPr/>
        </p:nvSpPr>
        <p:spPr>
          <a:xfrm>
            <a:off x="606552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efficiency（2k≈32k, 16×）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457200" y="4498848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5262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三个多方 benchmark 都没有训练集 → 训练数据须合成（已设计图驱动 pipeline，先合成 200 条）。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 · 论文 Table 2（6 类 query，准确率%）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行=论文测过的系统，列=6 类对抗 query + 平均；加粗=各列最优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Multi-Hop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Update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Ambig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Implicit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Temporal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Abstain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7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40.11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14.15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40.82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43.22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text-embedding-3-large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23.36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21.70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32.72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GraphRAG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14.02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19.81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14.29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66.97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11.32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20.41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16.67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82.57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25.73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22.53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17.76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20.75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28.57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77.98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28.15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22.43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23.46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67.89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35.10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39.56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27.10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30.19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42.86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29.63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75.23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39.72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Hindsight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42.31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17.76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40.82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54.94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77.06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46.01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51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数据来源：GroupMemBench 原论文 Table 2。最强 Hindsight 46.01、BM25 43.22(第二) → 纯关键词检索逼近最强；记忆系统 Mem0 仅 25.73、Update 类灾难(Mem0 4.67)。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 · 论文 Table 4（9 类，0–1，GPT-4o-mini 作答）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上=参考上界；中=开源记忆框架；下=论文社交感知探针。MeanQ=按题加权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64008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SR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AP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TM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NI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TS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DM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MeanQ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LLM-MINI 全上下文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Uncompressed 检索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Graphiti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Cognee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Subject-Mem(探针)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SMG(探针)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0.08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0.10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0.213</a:t>
                      </a:r>
                      <a:endParaRPr lang="en-US" sz="7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151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数据来源：SocialMemBench 原论文 Table 4。开源记忆框架仅 0.12–0.18，远低于 Uncompressed 检索 0.345 与全上下文 0.369 → 现有记忆把社交结构线索抹掉了。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 · 论文 Table 4（GPT-4.1-mini 作答，准确率%）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召回(Single/Multi/Temp) · 元认知(Const/Proact/Update) · 画像(Style/Skill/Role) + 平均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Method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Const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Proact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Updt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Style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Role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1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Avg</a:t>
                      </a:r>
                      <a:endParaRPr lang="en-US" sz="71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Full Context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83.57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2.41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63.43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25.06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39.20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35.50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38.27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37.44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+MemoBase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60.09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12.85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64.68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36.77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30.60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29.59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38.78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34.27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55.40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6.33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66.17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52.46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51.87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22.73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31.36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37.09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+Zep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73.71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13.00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67.16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43.66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26.70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35.50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44.39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39.97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+MemOS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71.36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15.67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69.90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51.99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45.15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28.98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32.54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48.47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42.55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8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数据来源：EverMemBench 原论文 Table 4(GPT-4.1-mini 作答)。最强记忆 MemOS 仅 42.55；Multi-hop 召回灾难(2–19%)、记忆更新弱。另:Llama4 Full 40.18 / Gemini3-Flash Full 72.61(全上下文远超记忆系统)。</a:t>
            </a:r>
            <a:endParaRPr lang="en-US" sz="780" dirty="0"/>
          </a:p>
        </p:txBody>
      </p:sp>
      <p:sp>
        <p:nvSpPr>
          <p:cNvPr id="7" name="Text 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单用户记忆系统（training-free）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按时间：解决什么 · 怎么做 · 自身还差什么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011680"/>
                <a:gridCol w="26060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MemoryBank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长期个性化 + 该不该遗忘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艾宾浩斯遗忘曲线 + 渐进 profile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规则无学习·事实回忆弱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灵活关联、免预定义 schema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原子卡片 + LLM 动态链接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链接启发式·略弱于 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/ 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production 记忆、免塞全历史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决 ADD/UPDATE/DELETE(+图)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规则不可学·每 fact 一调用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MemGAS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多粒度关联与检索权重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 + GMM 聚类 + 熵路由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构建开销大·不学习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MemoryOS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长期记忆的存储调度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 式短/中/长期分层 + 分页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调度启发式·阈值手工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记忆系统效率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在线/离线分离 + 压缩 + 分段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压缩丢细节·离线延迟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long-context agentic memory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Memorizer+Researcher 双 LLM + JIT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LLM 成本高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RL 记忆方法（按时间）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 · 怎么做 · 自身还差什么</a:t>
            </a:r>
            <a:endParaRPr lang="en-US" sz="2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"/>
                <a:gridCol w="1920240"/>
                <a:gridCol w="2560320"/>
                <a:gridCol w="170992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MemAgent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超长文档 QA 线性复杂度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chunk 覆盖式定长记忆 + Multi-Conv DAPO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定长丢细节·重写贵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学记忆写操作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agent + 记忆蒸馏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动作仅 4 类·颗粒粗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LTM/STM 轨迹碎片化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step-wise GRPO · 6 工具动作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检索简单·credit 不精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Mem-α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 + 超长泛化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三组件(core/epi/sem)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分层固定·边界启发式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Mem-T / TreeMem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2026.01–05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稀疏奖励 / 无标注信用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树状信用：MoT 反传 / 依赖树+互信息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树搜索·检索依赖 开销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CoMAM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sequential 忽视协同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RL + rank credit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复杂·相关非因果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奖励稀疏收敛慢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Levenshtein 稠密过程奖励(OT)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GT 标注·定位粗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multi-session 信用不公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LoGo 共享态 rerollout + 课程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增计算·只到 session 级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读侧 / 其他（5 篇）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25–26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 / 蒸馏 / 记忆组织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R²-Mem 反思 · DeferMem 蒸馏 · DualMem 双流 · MemBuilder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多为读侧·增成本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35424"/>
            <a:ext cx="8229600" cy="274320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35424"/>
            <a:ext cx="54864" cy="2743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453542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统一总结：</a:t>
            </a:r>
            <a:pPr indent="0" marL="0"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以上工作全部为 dyadic / 单用户 —— 记忆不区分说话人。这正是 SpeakerMem-R1 切入的空白。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② · 多方系统都不可学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多方工作全是 training-free / 仅评测 → 空白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还有什么不足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Collaborative Mem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多用户共享/私有 + 访问控制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写入是固定规则，不可学习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G-Memory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三层图记忆 (+20.89%)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training-free · 面向 AI-agent · 不可学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SA-LLM / MuPaS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多方对话生成 / role-mask 训练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针对生成，非记忆管理 · 无 RL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 / Social / Ever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多方记忆评测（揭示失败）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纯评测集 · 无训练集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19856"/>
            <a:ext cx="8229600" cy="10789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3529584"/>
            <a:ext cx="7790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空白确认：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 × RL 记忆 = 零篇先例（4 轮检索验证）。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895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 无 speaker_id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94944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多方发言压成 user，丢归属</a:t>
            </a:r>
            <a:endParaRPr lang="en-US" sz="7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389534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1024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 盲区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3364992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整体内容对、归属错仍高分</a:t>
            </a:r>
            <a:endParaRPr lang="en-US" sz="78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38953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91072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Credit 盲区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6035040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分布不同，奖励不可比</a:t>
            </a:r>
            <a:endParaRPr lang="en-US" sz="780" dirty="0"/>
          </a:p>
        </p:txBody>
      </p:sp>
      <p:sp>
        <p:nvSpPr>
          <p:cNvPr id="17" name="Text 11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方法（次要）+ 评测指标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三个贡献分别修三个盲点；指标看右栏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859536"/>
          </a:xfrm>
          <a:prstGeom prst="rect">
            <a:avLst/>
          </a:prstGeom>
          <a:solidFill>
            <a:srgbClr val="0EA5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848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3584" y="1545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SpeakerLevenshtein 奖励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43584" y="183794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按说话人分桶稠密奖励（扩展 DeltaMem）→ 修 Reward 盲区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386584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386584"/>
            <a:ext cx="54864" cy="859536"/>
          </a:xfrm>
          <a:prstGeom prst="rect">
            <a:avLst/>
          </a:prstGeom>
          <a:solidFill>
            <a:srgbClr val="6D5BD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43584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SC-LoGo-GRPO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43584" y="28072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active speaker set 分层 rerollout（扩展 Memory-R2）→ 修 Credit 盲区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3355848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355848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57016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43584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5 层 Speaker-Indexed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243584" y="377647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+ group，对应 5 类失败模式 → 修 Action/结构 盲区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60720" y="1417320"/>
            <a:ext cx="2926080" cy="29077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961888" y="1581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我们报告的指标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18"/>
          <p:cNvSpPr/>
          <p:nvPr/>
        </p:nvSpPr>
        <p:spPr>
          <a:xfrm>
            <a:off x="6163056" y="19110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</a:t>
            </a:r>
            <a:endParaRPr lang="en-US" sz="980" dirty="0"/>
          </a:p>
        </p:txBody>
      </p:sp>
      <p:sp>
        <p:nvSpPr>
          <p:cNvPr id="24" name="Text 19"/>
          <p:cNvSpPr/>
          <p:nvPr/>
        </p:nvSpPr>
        <p:spPr>
          <a:xfrm>
            <a:off x="6163056" y="21122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核心：归属准不准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980176" y="24414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6" name="Text 21"/>
          <p:cNvSpPr/>
          <p:nvPr/>
        </p:nvSpPr>
        <p:spPr>
          <a:xfrm>
            <a:off x="6163056" y="23682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980" dirty="0"/>
          </a:p>
        </p:txBody>
      </p:sp>
      <p:sp>
        <p:nvSpPr>
          <p:cNvPr id="27" name="Text 22"/>
          <p:cNvSpPr/>
          <p:nvPr/>
        </p:nvSpPr>
        <p:spPr>
          <a:xfrm>
            <a:off x="6163056" y="25694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最终答对没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980176" y="28986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9" name="Text 24"/>
          <p:cNvSpPr/>
          <p:nvPr/>
        </p:nvSpPr>
        <p:spPr>
          <a:xfrm>
            <a:off x="6163056" y="28254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</a:t>
            </a:r>
            <a:endParaRPr lang="en-US" sz="980" dirty="0"/>
          </a:p>
        </p:txBody>
      </p:sp>
      <p:sp>
        <p:nvSpPr>
          <p:cNvPr id="30" name="Text 25"/>
          <p:cNvSpPr/>
          <p:nvPr/>
        </p:nvSpPr>
        <p:spPr>
          <a:xfrm>
            <a:off x="6163056" y="30266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类失败模式分项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980176" y="33558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2" name="Text 27"/>
          <p:cNvSpPr/>
          <p:nvPr/>
        </p:nvSpPr>
        <p:spPr>
          <a:xfrm>
            <a:off x="6163056" y="3282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leakage rate</a:t>
            </a:r>
            <a:endParaRPr lang="en-US" sz="980" dirty="0"/>
          </a:p>
        </p:txBody>
      </p:sp>
      <p:sp>
        <p:nvSpPr>
          <p:cNvPr id="33" name="Text 28"/>
          <p:cNvSpPr/>
          <p:nvPr/>
        </p:nvSpPr>
        <p:spPr>
          <a:xfrm>
            <a:off x="6163056" y="34838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跨说话人泄漏（新维度）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980176" y="38130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5" name="Text 30"/>
          <p:cNvSpPr/>
          <p:nvPr/>
        </p:nvSpPr>
        <p:spPr>
          <a:xfrm>
            <a:off x="6163056" y="37398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</a:t>
            </a:r>
            <a:endParaRPr lang="en-US" sz="980" dirty="0"/>
          </a:p>
        </p:txBody>
      </p:sp>
      <p:sp>
        <p:nvSpPr>
          <p:cNvPr id="36" name="Text 31"/>
          <p:cNvSpPr/>
          <p:nvPr/>
        </p:nvSpPr>
        <p:spPr>
          <a:xfrm>
            <a:off x="6163056" y="39410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不退化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预期结果与贡献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目标数字 + 关键消融 + 贡献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10972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 &gt; 0.35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开源系统仅 0.12–0.18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17320"/>
            <a:ext cx="54864" cy="109728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3814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超过最强 46%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3814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 类显著提升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109728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278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49.67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7278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dyadic 不退化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822960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61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关键消融（验证每个贡献的增量）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vs flat Levenshtein </a:t>
            </a:r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+5–10 F1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joint vs sequential </a:t>
            </a:r>
            <a:pPr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+4–8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LoGo vs 无 </a:t>
            </a:r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+2–4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584448"/>
            <a:ext cx="8229600" cy="9144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" y="3648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50208"/>
            <a:ext cx="164592" cy="16459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144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首个多方对话 RL 记忆方法（零篇先例）</a:t>
            </a:r>
            <a:endParaRPr lang="en-US" sz="92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950208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三大技术贡献：奖励 / 信用分配 / 记忆结构</a:t>
            </a:r>
            <a:endParaRPr lang="en-US" sz="92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164592" cy="16459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144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新评测维度：跨说话人隐私泄漏</a:t>
            </a:r>
            <a:endParaRPr lang="en-US" sz="92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242816"/>
            <a:ext cx="164592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0292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 + 合成多方数据集</a:t>
            </a:r>
            <a:endParaRPr lang="en-US" sz="920" dirty="0"/>
          </a:p>
        </p:txBody>
      </p:sp>
      <p:sp>
        <p:nvSpPr>
          <p:cNvPr id="33" name="Text 2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实验规划 · 我的判断（供老师指正）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值得先复现的 work —— 按优先级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4206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立刻做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 · 必报 baseline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" y="220370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6809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· 跑通 = 验证评测 pipeline + 拿对照数字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603504" y="275234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6809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几行 · 坐实「BM25 追平」motivation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329184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17320"/>
            <a:ext cx="2560320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17" name="Text 15"/>
          <p:cNvSpPr/>
          <p:nvPr/>
        </p:nvSpPr>
        <p:spPr>
          <a:xfrm>
            <a:off x="343814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RL 脚手架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3814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有开源代码可 fork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38144" y="220370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0" name="Text 18"/>
          <p:cNvSpPr/>
          <p:nvPr/>
        </p:nvSpPr>
        <p:spPr>
          <a:xfrm>
            <a:off x="360273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MemAgent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0273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fork → per-speaker 多流，最省力 RL 起点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3438144" y="275234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21"/>
          <p:cNvSpPr/>
          <p:nvPr/>
        </p:nvSpPr>
        <p:spPr>
          <a:xfrm>
            <a:off x="360273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LightMem（可选）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60273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强近期 training-free 对照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17320"/>
            <a:ext cx="2560320" cy="4206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27278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核心前身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无代码 · 须自实现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72784" y="220370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3737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DeltaMem 奖励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43737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贡献① 基础，先单独验证能分好坏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72784" y="275234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3" name="Text 31"/>
          <p:cNvSpPr/>
          <p:nvPr/>
        </p:nvSpPr>
        <p:spPr>
          <a:xfrm>
            <a:off x="643737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Memory-R2 co-learn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3737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贡献②；先 fact-extractor（命脉），LoGo 次之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6272784" y="330098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323697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Memory-R1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37376" y="3456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outcome-only RL baseline（对照）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457200" y="3968496"/>
            <a:ext cx="8229600" cy="54864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3968496"/>
            <a:ext cx="54864" cy="54864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96849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我的判断：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Mem0+BM25 坐实 benchmark / motivation → fork MemAgent 拿能训的 RL loop → 自实现 DeltaMem 奖励 + Memory-R2 的 fact-extractor。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暂不优先：CoMAM / Mem-T / TreeMem / MemoryOS（cite 即可）。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核心能力 case 速览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类「谁说了什么」难题（跨领域）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08176"/>
            <a:ext cx="54864" cy="13350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Alice:训练·Bob:数据·Carol:评测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谁评测?→Carol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3504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企业协作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85744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5744" y="1408176"/>
            <a:ext cx="54864" cy="133502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4" name="Text 12"/>
          <p:cNvSpPr/>
          <p:nvPr/>
        </p:nvSpPr>
        <p:spPr>
          <a:xfrm>
            <a:off x="3432048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跨说话人引用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32048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Alice:「Bob 想换工作」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32048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523488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想换?→是(Alice 转述)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3432048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客服/合规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114288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4288" y="1408176"/>
            <a:ext cx="54864" cy="13350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260592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0592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Alice:我妈住院·Carol:我妈退休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0592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2032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 妈?→退休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6260592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医疗/教育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9504"/>
            <a:ext cx="54864" cy="13350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冲突信念按人分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3504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 挺 PyTorch·Bob 坚持 JAX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倾向?→JAX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03504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决策/多agent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85744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85744" y="2889504"/>
            <a:ext cx="54864" cy="133502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Text 33"/>
          <p:cNvSpPr/>
          <p:nvPr/>
        </p:nvSpPr>
        <p:spPr>
          <a:xfrm>
            <a:off x="3432048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per-speaker 时序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Alice:A 司→(T20)跳 B 司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32048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3523488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现在?→B(之前 A)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3432048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CRM/陪伴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114288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14288" y="2889504"/>
            <a:ext cx="54864" cy="13350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2" name="Text 40"/>
          <p:cNvSpPr/>
          <p:nvPr/>
        </p:nvSpPr>
        <p:spPr>
          <a:xfrm>
            <a:off x="6260592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群体vs个体+隐私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60592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群:Slack·Alice 私下爱飞书·在看机会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60592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2032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项目?→Slack；Carol 问→不泄漏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260592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社交/合规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典型 case 详解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两个例子：现有系统为何错、我们怎么对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953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模型训练我来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数据清洗交给我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我盯评测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谁负责评测? → Carol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现有系统压成一条 user，分工糊成一团，问归属只能猜。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speaker_id 动作 + per_speaker_core + 分桶奖励 → 每条事实锚定到人。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1149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2122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我患者血糖高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1149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我接术后感染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1149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我患者心率不齐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40" name="Text 38"/>
          <p:cNvSpPr/>
          <p:nvPr/>
        </p:nvSpPr>
        <p:spPr>
          <a:xfrm>
            <a:off x="485546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李医生的患者? → 术后感染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3" name="Text 41"/>
          <p:cNvSpPr/>
          <p:nvPr/>
        </p:nvSpPr>
        <p:spPr>
          <a:xfrm>
            <a:off x="485546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多人都谈「我的患者」，同类实体易被合并；规模越大越糊。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916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0916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6" name="Text 44"/>
          <p:cNvSpPr/>
          <p:nvPr/>
        </p:nvSpPr>
        <p:spPr>
          <a:xfrm>
            <a:off x="485546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s_owner + per-speaker 分层，结构上禁止跨人 merge。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C · 方法 / 训练（备查）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系统数据流 + 三阶段训练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783080" cy="32918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A_mem 写记忆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新发言→记忆动作</a:t>
            </a:r>
            <a:endParaRPr lang="en-US" sz="82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792224"/>
            <a:ext cx="265176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578608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78608" y="1463040"/>
            <a:ext cx="1783080" cy="32918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5 层记忆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06624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</a:t>
            </a:r>
            <a:endParaRPr lang="en-US" sz="82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792224"/>
            <a:ext cx="265176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00016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0016" y="1463040"/>
            <a:ext cx="1783080" cy="3291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7" name="Text 13"/>
          <p:cNvSpPr/>
          <p:nvPr/>
        </p:nvSpPr>
        <p:spPr>
          <a:xfrm>
            <a:off x="4809744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A_ret 检索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28032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可访问+相关</a:t>
            </a:r>
            <a:endParaRPr lang="en-US" sz="82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92224"/>
            <a:ext cx="265176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821424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21424" y="1463040"/>
            <a:ext cx="1783080" cy="32918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Text 17"/>
          <p:cNvSpPr/>
          <p:nvPr/>
        </p:nvSpPr>
        <p:spPr>
          <a:xfrm>
            <a:off x="6931152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A_ans 回答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949440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适配提问者</a:t>
            </a:r>
            <a:endParaRPr lang="en-US" sz="820" dirty="0"/>
          </a:p>
        </p:txBody>
      </p:sp>
      <p:sp>
        <p:nvSpPr>
          <p:cNvPr id="24" name="Text 19"/>
          <p:cNvSpPr/>
          <p:nvPr/>
        </p:nvSpPr>
        <p:spPr>
          <a:xfrm>
            <a:off x="457200" y="2670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三阶段训练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2944368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7" name="Text 22"/>
          <p:cNvSpPr/>
          <p:nvPr/>
        </p:nvSpPr>
        <p:spPr>
          <a:xfrm>
            <a:off x="60350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1 · SFT 热启动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0350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role-masked SFT；attribution F1&gt;50%</a:t>
            </a:r>
            <a:endParaRPr lang="en-US" sz="830" dirty="0"/>
          </a:p>
        </p:txBody>
      </p:sp>
      <p:sp>
        <p:nvSpPr>
          <p:cNvPr id="29" name="Shape 24"/>
          <p:cNvSpPr/>
          <p:nvPr/>
        </p:nvSpPr>
        <p:spPr>
          <a:xfrm>
            <a:off x="329184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291840" y="2944368"/>
            <a:ext cx="54864" cy="84124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1" name="Text 26"/>
          <p:cNvSpPr/>
          <p:nvPr/>
        </p:nvSpPr>
        <p:spPr>
          <a:xfrm>
            <a:off x="343814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2 · Joint RL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43814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SpeakerMem-GRPO；K=3→5→8 课程</a:t>
            </a:r>
            <a:endParaRPr lang="en-US" sz="830" dirty="0"/>
          </a:p>
        </p:txBody>
      </p:sp>
      <p:sp>
        <p:nvSpPr>
          <p:cNvPr id="33" name="Shape 28"/>
          <p:cNvSpPr/>
          <p:nvPr/>
        </p:nvSpPr>
        <p:spPr>
          <a:xfrm>
            <a:off x="612648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126480" y="2944368"/>
            <a:ext cx="54864" cy="84124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5" name="Text 30"/>
          <p:cNvSpPr/>
          <p:nvPr/>
        </p:nvSpPr>
        <p:spPr>
          <a:xfrm>
            <a:off x="627278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3 · 端到端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27278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benchmark 混合，回填指标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457200" y="402336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9" name="Text 34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 </a:t>
            </a:r>
            <a:pPr indent="0" marL="0">
              <a:buNone/>
            </a:pPr>
            <a:r>
              <a:rPr lang="en-US" sz="900" dirty="0">
                <a:solidFill>
                  <a:srgbClr val="DD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0.5·R_task + 0.8·R_state + 0.3·R_attr + 0.2·R_aud + …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（R_state 稠密、按说话人分桶，主导）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复现进度（DeepSeek 实测，2026-06-10）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四基线全量：Mem0 全场垫底；SocialMem 上图记忆反超</a:t>
            </a:r>
            <a:endParaRPr lang="en-US" sz="2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66928"/>
                <a:gridCol w="841248"/>
                <a:gridCol w="841248"/>
                <a:gridCol w="841248"/>
                <a:gridCol w="960120"/>
                <a:gridCol w="2578608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关键发现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远超 Mem0(论文同)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48.1%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59.0%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图记忆反超 BM25；Mem0 仍垫底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52.5%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19.9%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跑中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跑中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 远超 Mem0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735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口径：judge acc(主)，agent+judge 均 DeepSeek、16 并发；Mem0=并行无合并变体；A-MEM/HippoRAG 检索 top-k=10 passage(各8条)上下文更大、judge 偏宽松→绝对值偏高，相对排序为准。GroupMem/EverMem 的图记忆全量待跑。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3730752"/>
            <a:ext cx="8229600" cy="786384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3730752"/>
            <a:ext cx="54864" cy="7863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73075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2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叙事升级：</a:t>
            </a:r>
            <a:pPr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不是「记忆系统都没用」，而是「摧毁 speaker-grounding 的摘要式记忆(Mem0，三场全垫底)失败、保留 who-said-what 结构的图记忆(HippoRAG 59/A-MEM 48，反超 BM25 29)有效」</a:t>
            </a:r>
            <a:pPr indent="0" marL="0">
              <a:lnSpc>
                <a:spcPct val="110000"/>
              </a:lnSpc>
              <a:buNone/>
            </a:pPr>
            <a:r>
              <a:rPr lang="en-US" sz="92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正是 SpeakerMem-R1（speaker-grounded 结构化记忆+RL）的直接动机。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详细结果（SocialMemBench 1031 题，四基线全量）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9 类拆：Mem0 全垫底；HippoRAG/A-MEM 在归属·ToM·关系类大幅领先</a:t>
            </a:r>
            <a:endParaRPr lang="en-US" sz="2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08760"/>
                <a:gridCol w="1508760"/>
                <a:gridCol w="150876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类别(Q1–Q9)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BM25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HippoRAG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Q1 单人召回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Q2 群体决策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24.7%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14.8%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34.6%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Q3 多人聚合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4.5%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Q4 归属探针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Q5 ToM 揣测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Q6 群规vs个人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Q7 关系边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29.8%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9.4%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51.9%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Q8 时间漂移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20.6%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12.2%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39.3%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58.8%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Q9 离群成员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B4530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9F6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总体</a:t>
                      </a:r>
                      <a:endParaRPr lang="en-US" sz="84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13.7%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48.1%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0EA5C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59.0%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2628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526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看点：</a:t>
            </a:r>
            <a:pPr indent="0" marL="0">
              <a:lnSpc>
                <a:spcPct val="104000"/>
              </a:lnSpc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 每类垫底/并列垫底；Q5 ToM(3→74)、Q9 离群(10→80)、Q7 关系(9→63)、Q4 归属(11→70) 图记忆碾压。唯 Q3 多人聚合四家全崩(≤4.5)——结构化记忆也没解决的硬骨头。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Mem0 为何失效（重建两边检索内容归因）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BM25对/Mem0错 的题，看 Mem0 记忆里到底丢了什么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20700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6304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字面值被摘要抹平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" y="18836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截止日 2025-07-18 → Mem0 记忆全是「谁负责审批」，无此日期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276856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 +38.9 pt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273552" y="1371600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73552" y="1371600"/>
            <a:ext cx="54864" cy="120700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3" name="Text 11"/>
          <p:cNvSpPr/>
          <p:nvPr/>
        </p:nvSpPr>
        <p:spPr>
          <a:xfrm>
            <a:off x="3419856" y="146304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属性-实体绑定断裂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19856" y="18836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一堆日期没一条绑到「UX Approval 阶段」→ 张冠李戴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419856" y="2286000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3493008" y="2276856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多跳 +34.6 pt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6089904" y="1371600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9904" y="1371600"/>
            <a:ext cx="54864" cy="120700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1463040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说话人/归属丢失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36208" y="18836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「谁反对圣诞日期」=Emeka；Mem0 只剩「谁要什么菜」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236208" y="2286000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276856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Q4 归属 +55.0 pt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457200" y="2724912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724912"/>
            <a:ext cx="54864" cy="1207008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281635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言语行为被丢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3504" y="3236976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「Bev 替 Cass 问素食」动作没了，只留高频观鸟话题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3504" y="3639312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8" name="Text 26"/>
          <p:cNvSpPr/>
          <p:nvPr/>
        </p:nvSpPr>
        <p:spPr>
          <a:xfrm>
            <a:off x="676656" y="3630168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 ToM +34.8 pt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3273552" y="2724912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73552" y="2724912"/>
            <a:ext cx="54864" cy="120700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1" name="Text 29"/>
          <p:cNvSpPr/>
          <p:nvPr/>
        </p:nvSpPr>
        <p:spPr>
          <a:xfrm>
            <a:off x="3419856" y="281635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关系边缺失+显著性偏置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419856" y="3236976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Priya–Lena 亲密关系→Mem0 答「无特定关系」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419856" y="3639312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4" name="Text 32"/>
          <p:cNvSpPr/>
          <p:nvPr/>
        </p:nvSpPr>
        <p:spPr>
          <a:xfrm>
            <a:off x="3493008" y="3630168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Q7 关系 +20.4 pt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6089904" y="2724912"/>
            <a:ext cx="2596896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9904" y="2724912"/>
            <a:ext cx="54864" cy="1207008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37" name="Text 35"/>
          <p:cNvSpPr/>
          <p:nvPr/>
        </p:nvSpPr>
        <p:spPr>
          <a:xfrm>
            <a:off x="6236208" y="2816352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更新不追踪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36208" y="3236976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新旧合并做法并存，「当前做法」答成旧的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236208" y="3639312"/>
            <a:ext cx="2304288" cy="2011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3630168"/>
            <a:ext cx="22311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</a:t>
            </a:r>
            <a:pPr indent="0" marL="0">
              <a:buNone/>
            </a:pPr>
            <a:r>
              <a:rPr lang="en-US" sz="72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知识更新 +17.8 pt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457200" y="41148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7200" y="4114800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3" name="Text 41"/>
          <p:cNvSpPr/>
          <p:nvPr/>
        </p:nvSpPr>
        <p:spPr>
          <a:xfrm>
            <a:off x="640080" y="4114800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 不是「检索差」，而是入库时 LLM 摘要把多方对话最关键的三样——精确字面值 / 说话人归属 / 人际关系——压缩没了。</a:t>
            </a:r>
            <a:pPr indent="0" marL="0">
              <a:lnSpc>
                <a:spcPct val="112000"/>
              </a:lnSpc>
              <a:buNone/>
            </a:pPr>
            <a:endParaRPr lang="en-US" sz="9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赢=逐字原文+全元数据不丢；HippoRAG/A-MEM 赢=建实体-关系图/笔记链接，保 who-said-what。</a:t>
            </a:r>
            <a:endParaRPr lang="en-US" sz="9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直接、可量化地论证 speaker-grounded 结构化记忆的必要。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17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SpeakerMem-R1 汇报 V2</dc:title>
  <dc:subject>PptxGenJS Presentation</dc:subject>
  <dc:creator>SpeakerMem-R1</dc:creator>
  <cp:lastModifiedBy>SpeakerMem-R1</cp:lastModifiedBy>
  <cp:revision>1</cp:revision>
  <dcterms:created xsi:type="dcterms:W3CDTF">2026-06-10T10:45:09Z</dcterms:created>
  <dcterms:modified xsi:type="dcterms:W3CDTF">2026-06-10T10:45:09Z</dcterms:modified>
</cp:coreProperties>
</file>