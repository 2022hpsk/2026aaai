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问题：多人对话里，AI 分不清「谁说了什么」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841248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1591056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25296" y="1371600"/>
            <a:ext cx="72694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要解决的问题：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为多方对话（3+ 人 / 群聊）设计可学习的、说话人锚定的记忆管理 —— 让 AI 正确地把每条信息归属到「正确的人、时间、受众」并据此作答。这是企业群聊 / 教育 / 医疗 / 客服的刚需，而现有系统集体失败。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432304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现有系统集体失败（硬数据）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720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11" name="Text 8"/>
          <p:cNvSpPr/>
          <p:nvPr/>
        </p:nvSpPr>
        <p:spPr>
          <a:xfrm>
            <a:off x="60350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0.12–0.18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0350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60350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开源记忆系统（Mem0/LangMem/Graphiti/Cognee）≈「没有记忆」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329184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291840" y="2706624"/>
            <a:ext cx="54864" cy="1078992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6" name="Text 13"/>
          <p:cNvSpPr/>
          <p:nvPr/>
        </p:nvSpPr>
        <p:spPr>
          <a:xfrm>
            <a:off x="343814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46%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343814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343814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最强系统上限；连 BM25 都能追平 → 结构性缺陷</a:t>
            </a:r>
            <a:endParaRPr lang="en-US" sz="800" dirty="0"/>
          </a:p>
        </p:txBody>
      </p:sp>
      <p:sp>
        <p:nvSpPr>
          <p:cNvPr id="19" name="Shape 16"/>
          <p:cNvSpPr/>
          <p:nvPr/>
        </p:nvSpPr>
        <p:spPr>
          <a:xfrm>
            <a:off x="6126480" y="2706624"/>
            <a:ext cx="2560320" cy="1078992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126480" y="2706624"/>
            <a:ext cx="54864" cy="1078992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1" name="Text 18"/>
          <p:cNvSpPr/>
          <p:nvPr/>
        </p:nvSpPr>
        <p:spPr>
          <a:xfrm>
            <a:off x="6272784" y="279806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~26%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6272784" y="327355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EverMemBench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72784" y="3493008"/>
            <a:ext cx="226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即便给 Oracle 证据，多跳归因也只有这么多</a:t>
            </a:r>
            <a:endParaRPr lang="en-US" sz="800" dirty="0"/>
          </a:p>
        </p:txBody>
      </p:sp>
      <p:sp>
        <p:nvSpPr>
          <p:cNvPr id="24" name="Shape 21"/>
          <p:cNvSpPr/>
          <p:nvPr/>
        </p:nvSpPr>
        <p:spPr>
          <a:xfrm>
            <a:off x="457200" y="4005072"/>
            <a:ext cx="8229600" cy="493776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457200" y="4005072"/>
            <a:ext cx="54864" cy="493776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6" name="Text 23"/>
          <p:cNvSpPr/>
          <p:nvPr/>
        </p:nvSpPr>
        <p:spPr>
          <a:xfrm>
            <a:off x="621792" y="4005072"/>
            <a:ext cx="791870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本质：</a:t>
            </a:r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现有记忆抹掉了 speaker- / audience-grounded 结构线索。多方比 dyadic 多三个挑战 —— ① 说话人归属  ② 受众适配  ③ 跨说话人隐私。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8" name="Text 25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 / 12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 benchmark 与指标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拿什么衡量：三个多方 benchmark + 关键指标</a:t>
            </a:r>
            <a:endParaRPr lang="en-US" sz="2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2743200"/>
                <a:gridCol w="2194560"/>
                <a:gridCol w="15087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 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规模 / 维度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报告指标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关键数字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图驱动合成 · 群组动态/归属/受众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 · F1 · attribution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最强 46%；BM25 追平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每实例 1M+ token · 2,400 QA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Recall@K · F1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Oracle 多跳归因 ~26%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430 personas · 5 类失败模式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per-category acc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开源 0.12–0.18；目标 &gt;0.35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14553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i="1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对照（证明 N=1 不退化）：</a:t>
            </a:r>
            <a:pPr indent="0" marL="0">
              <a:buNone/>
            </a:pPr>
            <a:r>
              <a:rPr lang="en-US" sz="9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LoCoMo · LongMemEval · PersonaMem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57200" y="345643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核心指标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F1（核心）</a:t>
            </a:r>
            <a:endParaRPr lang="en-US" sz="820" dirty="0"/>
          </a:p>
        </p:txBody>
      </p:sp>
      <p:sp>
        <p:nvSpPr>
          <p:cNvPr id="10" name="Shape 7"/>
          <p:cNvSpPr/>
          <p:nvPr/>
        </p:nvSpPr>
        <p:spPr>
          <a:xfrm>
            <a:off x="326136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1" name="Text 8"/>
          <p:cNvSpPr/>
          <p:nvPr/>
        </p:nvSpPr>
        <p:spPr>
          <a:xfrm>
            <a:off x="326136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820" dirty="0"/>
          </a:p>
        </p:txBody>
      </p:sp>
      <p:sp>
        <p:nvSpPr>
          <p:cNvPr id="12" name="Shape 9"/>
          <p:cNvSpPr/>
          <p:nvPr/>
        </p:nvSpPr>
        <p:spPr>
          <a:xfrm>
            <a:off x="6065520" y="3712464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3" name="Text 10"/>
          <p:cNvSpPr/>
          <p:nvPr/>
        </p:nvSpPr>
        <p:spPr>
          <a:xfrm>
            <a:off x="6065520" y="3712464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acc（5 失败模式）</a:t>
            </a:r>
            <a:endParaRPr lang="en-US" sz="820" dirty="0"/>
          </a:p>
        </p:txBody>
      </p:sp>
      <p:sp>
        <p:nvSpPr>
          <p:cNvPr id="14" name="Shape 11"/>
          <p:cNvSpPr/>
          <p:nvPr/>
        </p:nvSpPr>
        <p:spPr>
          <a:xfrm>
            <a:off x="45720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5" name="Text 12"/>
          <p:cNvSpPr/>
          <p:nvPr/>
        </p:nvSpPr>
        <p:spPr>
          <a:xfrm>
            <a:off x="45720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cross-speaker leakage rate（新增）</a:t>
            </a:r>
            <a:endParaRPr lang="en-US" sz="820" dirty="0"/>
          </a:p>
        </p:txBody>
      </p:sp>
      <p:sp>
        <p:nvSpPr>
          <p:cNvPr id="16" name="Shape 13"/>
          <p:cNvSpPr/>
          <p:nvPr/>
        </p:nvSpPr>
        <p:spPr>
          <a:xfrm>
            <a:off x="326136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7" name="Text 14"/>
          <p:cNvSpPr/>
          <p:nvPr/>
        </p:nvSpPr>
        <p:spPr>
          <a:xfrm>
            <a:off x="326136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F1（兼容性）</a:t>
            </a:r>
            <a:endParaRPr lang="en-US" sz="820" dirty="0"/>
          </a:p>
        </p:txBody>
      </p:sp>
      <p:sp>
        <p:nvSpPr>
          <p:cNvPr id="18" name="Shape 15"/>
          <p:cNvSpPr/>
          <p:nvPr/>
        </p:nvSpPr>
        <p:spPr>
          <a:xfrm>
            <a:off x="6065520" y="4096512"/>
            <a:ext cx="2621280" cy="310896"/>
          </a:xfrm>
          <a:prstGeom prst="roundRect">
            <a:avLst>
              <a:gd name="adj" fmla="val 35294"/>
            </a:avLst>
          </a:prstGeom>
          <a:solidFill>
            <a:srgbClr val="E0F4F9"/>
          </a:solidFill>
          <a:ln/>
        </p:spPr>
      </p:sp>
      <p:sp>
        <p:nvSpPr>
          <p:cNvPr id="19" name="Text 16"/>
          <p:cNvSpPr/>
          <p:nvPr/>
        </p:nvSpPr>
        <p:spPr>
          <a:xfrm>
            <a:off x="6065520" y="4096512"/>
            <a:ext cx="2621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context efficiency（2k≈32k, 16×）</a:t>
            </a:r>
            <a:endParaRPr lang="en-US" sz="820" dirty="0"/>
          </a:p>
        </p:txBody>
      </p:sp>
      <p:sp>
        <p:nvSpPr>
          <p:cNvPr id="20" name="Shape 17"/>
          <p:cNvSpPr/>
          <p:nvPr/>
        </p:nvSpPr>
        <p:spPr>
          <a:xfrm>
            <a:off x="457200" y="4498848"/>
            <a:ext cx="0" cy="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5262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三个多方 benchmark 都没有训练集 → 训练数据须合成（已设计图驱动 pipeline，先合成 200 条）。</a:t>
            </a:r>
            <a:endParaRPr lang="en-US" sz="880" dirty="0"/>
          </a:p>
        </p:txBody>
      </p:sp>
      <p:sp>
        <p:nvSpPr>
          <p:cNvPr id="22" name="Text 1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/ 12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单用户记忆系统（training-free）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按时间：解决什么 · 怎么做 · 自身还差什么</a:t>
            </a:r>
            <a:endParaRPr lang="en-US" sz="2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640080"/>
                <a:gridCol w="2011680"/>
                <a:gridCol w="260604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MemoryBank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2023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长期个性化 + 该不该遗忘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艾宾浩斯遗忘曲线 + 渐进 profile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规则无学习·事实回忆弱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A-MEM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2025.02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灵活关联、免预定义 schema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原子卡片 + LLM 动态链接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链接启发式·略弱于 Mem0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Mem0 / Mem0g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2025.04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production 记忆、免塞全历史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决 ADD/UPDATE/DELETE(+图)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规则不可学·每 fact 一调用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MemGAS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2025.05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多粒度关联与检索权重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多粒度 + GMM 聚类 + 熵路由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构建开销大·不学习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MemoryOS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2025.06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长期记忆的存储调度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OS 式短/中/长期分层 + 分页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调度启发式·阈值手工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LightMem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2025.10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记忆系统效率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在线/离线分离 + 压缩 + 分段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压缩丢细节·离线延迟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GAM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2025.11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long-context agentic memory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Memorizer+Researcher 双 LLM + JIT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2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LLM 成本高</a:t>
                      </a:r>
                      <a:endParaRPr lang="en-US" sz="82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/ 12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① · RL 记忆方法（按时间）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 · 怎么做 · 自身还差什么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713232"/>
                <a:gridCol w="1920240"/>
                <a:gridCol w="2560320"/>
                <a:gridCol w="1709928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解决的问题（动机）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方法简述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仍然不足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MemAgent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超长文档 QA 线性复杂度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chunk 覆盖式定长记忆 + Multi-Conv DAPO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定长丢细节·重写贵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2025.08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学记忆写操作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双 agent + 记忆蒸馏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动作仅 4 类·颗粒粗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AgeMem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LTM/STM 轨迹碎片化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step-wise GRPO · 6 工具动作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检索简单·credit 不精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Mem-α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 + 超长泛化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三组件(core/epi/sem)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分层固定·边界启发式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Mem-T / TreeMem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2026.01–05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稀疏奖励 / 无标注信用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树状信用：MoT 反传 / 依赖树+互信息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树搜索·检索依赖 开销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CoMAM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2026.03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sequential 忽视协同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RL + rank credit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joint 复杂·相关非因果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DeltaMem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2026.04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奖励稀疏收敛慢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Levenshtein 稠密过程奖励(OT)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 GT 标注·定位粗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Memory-R2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2026.05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multi-session 信用不公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LoGo 共享态 rerollout + 课程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增计算·只到 session 级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b="1" dirty="0">
                          <a:solidFill>
                            <a:srgbClr val="64748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读侧 / 其他（5 篇）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25–26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 / 蒸馏 / 记忆组织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R²-Mem 反思 · DeferMem 蒸馏 · DualMem 双流 · MemBuilder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7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多为读侧·增成本</a:t>
                      </a:r>
                      <a:endParaRPr lang="en-US" sz="77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0800" marR="508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535424"/>
            <a:ext cx="8229600" cy="274320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4535424"/>
            <a:ext cx="54864" cy="27432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4535424"/>
            <a:ext cx="79187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统一总结：</a:t>
            </a:r>
            <a:pPr indent="0" marL="0">
              <a:buNone/>
            </a:pPr>
            <a:r>
              <a:rPr lang="en-US" sz="84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以上工作全部为 dyadic / 单用户 —— 记忆不区分说话人。这正是 SpeakerMem-R1 切入的空白。</a:t>
            </a:r>
            <a:endParaRPr lang="en-US" sz="840" dirty="0"/>
          </a:p>
        </p:txBody>
      </p:sp>
      <p:sp>
        <p:nvSpPr>
          <p:cNvPr id="9" name="Text 6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 / 12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Related Work ② · 多方系统都不可学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多方工作全是 training-free / 仅评测 → 空白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926080"/>
                <a:gridCol w="301752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工作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解决的问题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还有什么不足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Collaborative Mem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多用户共享/私有 + 访问控制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写入是固定规则，不可学习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G-Memory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 agent 三层图记忆 (+20.89%)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training-free · 面向 AI-agent · 不可学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SA-LLM / MuPaS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多方对话生成 / role-mask 训练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针对生成，非记忆管理 · 无 RL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 / Social / Ever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多方记忆评测（揭示失败）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纯评测集 · 无训练集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19856"/>
            <a:ext cx="8229600" cy="10789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76656" y="3529584"/>
            <a:ext cx="7790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空白确认：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 × RL 记忆 = 零篇先例（4 轮检索验证）。</a:t>
            </a:r>
            <a:endParaRPr lang="en-US" sz="13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895344"/>
            <a:ext cx="219456" cy="2194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950976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Action 无 speaker_id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94944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多方发言压成 user，丢归属</a:t>
            </a:r>
            <a:endParaRPr lang="en-US" sz="78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704" y="3895344"/>
            <a:ext cx="219456" cy="2194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621024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Reward 盲区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3364992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整体内容对、归属错仍高分</a:t>
            </a:r>
            <a:endParaRPr lang="en-US" sz="78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6752" y="3895344"/>
            <a:ext cx="219456" cy="2194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291072" y="3840480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Credit 盲区</a:t>
            </a:r>
            <a:endParaRPr lang="en-US" sz="950" dirty="0"/>
          </a:p>
        </p:txBody>
      </p:sp>
      <p:sp>
        <p:nvSpPr>
          <p:cNvPr id="16" name="Text 10"/>
          <p:cNvSpPr/>
          <p:nvPr/>
        </p:nvSpPr>
        <p:spPr>
          <a:xfrm>
            <a:off x="6035040" y="4114800"/>
            <a:ext cx="24505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8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分布不同，奖励不可比</a:t>
            </a:r>
            <a:endParaRPr lang="en-US" sz="780" dirty="0"/>
          </a:p>
        </p:txBody>
      </p:sp>
      <p:sp>
        <p:nvSpPr>
          <p:cNvPr id="17" name="Text 11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8" name="Text 12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/ 12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方法（次要）+ 评测指标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三个贡献分别修三个盲点；指标看右栏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859536"/>
          </a:xfrm>
          <a:prstGeom prst="rect">
            <a:avLst/>
          </a:prstGeom>
          <a:solidFill>
            <a:srgbClr val="0EA5C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8488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243584" y="15453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SpeakerLevenshtein 奖励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43584" y="1837944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按说话人分桶稠密奖励（扩展 DeltaMem）→ 修 Reward 盲区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457200" y="2386584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" y="2386584"/>
            <a:ext cx="54864" cy="859536"/>
          </a:xfrm>
          <a:prstGeom prst="rect">
            <a:avLst/>
          </a:prstGeom>
          <a:solidFill>
            <a:srgbClr val="6D5BD0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587752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243584" y="25146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SC-LoGo-GRPO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1243584" y="28072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 active speaker set 分层 rerollout（扩展 Memory-R2）→ 修 Credit 盲区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457200" y="3355848"/>
            <a:ext cx="5029200" cy="859536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57200" y="3355848"/>
            <a:ext cx="54864" cy="859536"/>
          </a:xfrm>
          <a:prstGeom prst="rect">
            <a:avLst/>
          </a:prstGeom>
          <a:solidFill>
            <a:srgbClr val="E08A1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557016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243584" y="34838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5 层 Speaker-Indexed Memory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1243584" y="3776472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+ group，对应 5 类失败模式 → 修 Action/结构 盲区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5760720" y="1417320"/>
            <a:ext cx="2926080" cy="2907792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5961888" y="15819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我们报告的指标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980176" y="19842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18"/>
          <p:cNvSpPr/>
          <p:nvPr/>
        </p:nvSpPr>
        <p:spPr>
          <a:xfrm>
            <a:off x="6163056" y="19110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 attribution F1</a:t>
            </a:r>
            <a:endParaRPr lang="en-US" sz="980" dirty="0"/>
          </a:p>
        </p:txBody>
      </p:sp>
      <p:sp>
        <p:nvSpPr>
          <p:cNvPr id="24" name="Text 19"/>
          <p:cNvSpPr/>
          <p:nvPr/>
        </p:nvSpPr>
        <p:spPr>
          <a:xfrm>
            <a:off x="6163056" y="21122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核心：归属准不准</a:t>
            </a:r>
            <a:endParaRPr lang="en-US" sz="800" dirty="0"/>
          </a:p>
        </p:txBody>
      </p:sp>
      <p:sp>
        <p:nvSpPr>
          <p:cNvPr id="25" name="Shape 20"/>
          <p:cNvSpPr/>
          <p:nvPr/>
        </p:nvSpPr>
        <p:spPr>
          <a:xfrm>
            <a:off x="5980176" y="24414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6" name="Text 21"/>
          <p:cNvSpPr/>
          <p:nvPr/>
        </p:nvSpPr>
        <p:spPr>
          <a:xfrm>
            <a:off x="6163056" y="23682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QA token-F1 / EM</a:t>
            </a:r>
            <a:endParaRPr lang="en-US" sz="980" dirty="0"/>
          </a:p>
        </p:txBody>
      </p:sp>
      <p:sp>
        <p:nvSpPr>
          <p:cNvPr id="27" name="Text 22"/>
          <p:cNvSpPr/>
          <p:nvPr/>
        </p:nvSpPr>
        <p:spPr>
          <a:xfrm>
            <a:off x="6163056" y="25694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最终答对没</a:t>
            </a:r>
            <a:endParaRPr lang="en-US" sz="800" dirty="0"/>
          </a:p>
        </p:txBody>
      </p:sp>
      <p:sp>
        <p:nvSpPr>
          <p:cNvPr id="28" name="Shape 23"/>
          <p:cNvSpPr/>
          <p:nvPr/>
        </p:nvSpPr>
        <p:spPr>
          <a:xfrm>
            <a:off x="5980176" y="28986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9" name="Text 24"/>
          <p:cNvSpPr/>
          <p:nvPr/>
        </p:nvSpPr>
        <p:spPr>
          <a:xfrm>
            <a:off x="6163056" y="28254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per-category acc</a:t>
            </a:r>
            <a:endParaRPr lang="en-US" sz="980" dirty="0"/>
          </a:p>
        </p:txBody>
      </p:sp>
      <p:sp>
        <p:nvSpPr>
          <p:cNvPr id="30" name="Text 25"/>
          <p:cNvSpPr/>
          <p:nvPr/>
        </p:nvSpPr>
        <p:spPr>
          <a:xfrm>
            <a:off x="6163056" y="30266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类失败模式分项</a:t>
            </a:r>
            <a:endParaRPr lang="en-US" sz="800" dirty="0"/>
          </a:p>
        </p:txBody>
      </p:sp>
      <p:sp>
        <p:nvSpPr>
          <p:cNvPr id="31" name="Shape 26"/>
          <p:cNvSpPr/>
          <p:nvPr/>
        </p:nvSpPr>
        <p:spPr>
          <a:xfrm>
            <a:off x="5980176" y="33558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2" name="Text 27"/>
          <p:cNvSpPr/>
          <p:nvPr/>
        </p:nvSpPr>
        <p:spPr>
          <a:xfrm>
            <a:off x="6163056" y="32826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leakage rate</a:t>
            </a:r>
            <a:endParaRPr lang="en-US" sz="980" dirty="0"/>
          </a:p>
        </p:txBody>
      </p:sp>
      <p:sp>
        <p:nvSpPr>
          <p:cNvPr id="33" name="Text 28"/>
          <p:cNvSpPr/>
          <p:nvPr/>
        </p:nvSpPr>
        <p:spPr>
          <a:xfrm>
            <a:off x="6163056" y="34838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跨说话人泄漏（新维度）</a:t>
            </a:r>
            <a:endParaRPr lang="en-US" sz="800" dirty="0"/>
          </a:p>
        </p:txBody>
      </p:sp>
      <p:sp>
        <p:nvSpPr>
          <p:cNvPr id="34" name="Shape 29"/>
          <p:cNvSpPr/>
          <p:nvPr/>
        </p:nvSpPr>
        <p:spPr>
          <a:xfrm>
            <a:off x="5980176" y="3813048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35" name="Text 30"/>
          <p:cNvSpPr/>
          <p:nvPr/>
        </p:nvSpPr>
        <p:spPr>
          <a:xfrm>
            <a:off x="6163056" y="3739896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 F1</a:t>
            </a:r>
            <a:endParaRPr lang="en-US" sz="980" dirty="0"/>
          </a:p>
        </p:txBody>
      </p:sp>
      <p:sp>
        <p:nvSpPr>
          <p:cNvPr id="36" name="Text 31"/>
          <p:cNvSpPr/>
          <p:nvPr/>
        </p:nvSpPr>
        <p:spPr>
          <a:xfrm>
            <a:off x="6163056" y="3941064"/>
            <a:ext cx="2359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7D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dyadic 不退化</a:t>
            </a:r>
            <a:endParaRPr lang="en-US" sz="800" dirty="0"/>
          </a:p>
        </p:txBody>
      </p:sp>
      <p:sp>
        <p:nvSpPr>
          <p:cNvPr id="37" name="Text 32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8" name="Text 33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/ 12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预期结果与贡献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目标数字 + 关键消融 + 贡献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54864" cy="1097280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SocialMemBench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4A5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目标 &gt; 0.35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0350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开源系统仅 0.12–0.18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329184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417320"/>
            <a:ext cx="54864" cy="1097280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2" name="Text 10"/>
          <p:cNvSpPr/>
          <p:nvPr/>
        </p:nvSpPr>
        <p:spPr>
          <a:xfrm>
            <a:off x="343814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GroupMemBench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43814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08A1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超过最强 46%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3814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 类显著提升</a:t>
            </a:r>
            <a:endParaRPr lang="en-US" sz="820" dirty="0"/>
          </a:p>
        </p:txBody>
      </p:sp>
      <p:sp>
        <p:nvSpPr>
          <p:cNvPr id="15" name="Shape 13"/>
          <p:cNvSpPr/>
          <p:nvPr/>
        </p:nvSpPr>
        <p:spPr>
          <a:xfrm>
            <a:off x="6126480" y="1417320"/>
            <a:ext cx="256032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126480" y="1417320"/>
            <a:ext cx="54864" cy="109728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1527048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LoCoMo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72784" y="17830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9F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≈ 49.67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272784" y="22037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 dyadic 不退化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457200" y="2697480"/>
            <a:ext cx="8229600" cy="713232"/>
          </a:xfrm>
          <a:prstGeom prst="rect">
            <a:avLst/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7614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关键消融（验证每个贡献的增量）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0080" y="3035808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per-speaker vs flat Levenshtein </a:t>
            </a:r>
            <a:pPr indent="0" marL="0">
              <a:buNone/>
            </a:pPr>
            <a:r>
              <a:rPr lang="en-US" sz="10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+5–10 F1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joint vs sequential </a:t>
            </a:r>
            <a:pPr indent="0" marL="0">
              <a:buNone/>
            </a:pPr>
            <a:r>
              <a:rPr lang="en-US" sz="100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+4–8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  ·    LoGo vs 无 </a:t>
            </a:r>
            <a:pPr indent="0" marL="0">
              <a:buNone/>
            </a:pPr>
            <a:r>
              <a:rPr lang="en-US" sz="100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+2–4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57200" y="3584448"/>
            <a:ext cx="8229600" cy="9144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76656" y="36484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2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3950208"/>
            <a:ext cx="164592" cy="164592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9144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首个多方对话 RL 记忆方法（零篇先例）</a:t>
            </a:r>
            <a:endParaRPr lang="en-US" sz="920" dirty="0"/>
          </a:p>
        </p:txBody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3950208"/>
            <a:ext cx="164592" cy="164592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029200" y="390448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三大技术贡献：奖励 / 信用分配 / 记忆结构</a:t>
            </a:r>
            <a:endParaRPr lang="en-US" sz="920" dirty="0"/>
          </a:p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" y="4242816"/>
            <a:ext cx="164592" cy="16459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9144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新评测维度：跨说话人隐私泄漏</a:t>
            </a:r>
            <a:endParaRPr lang="en-US" sz="92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4242816"/>
            <a:ext cx="164592" cy="16459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029200" y="419709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开源代码 + 合成多方数据集</a:t>
            </a:r>
            <a:endParaRPr lang="en-US" sz="920" dirty="0"/>
          </a:p>
        </p:txBody>
      </p:sp>
      <p:sp>
        <p:nvSpPr>
          <p:cNvPr id="33" name="Text 2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34" name="Text 2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12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实验规划 · 我的判断（供老师指正）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值得先复现的 work —— 按优先级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17320"/>
            <a:ext cx="2560320" cy="4206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立刻做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350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低成本 · 必报 baseline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3504" y="220370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76809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76809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开源 · 跑通 = 验证评测 pipeline + 拿对照数字</a:t>
            </a:r>
            <a:endParaRPr lang="en-US" sz="760" dirty="0"/>
          </a:p>
        </p:txBody>
      </p:sp>
      <p:sp>
        <p:nvSpPr>
          <p:cNvPr id="12" name="Shape 10"/>
          <p:cNvSpPr/>
          <p:nvPr/>
        </p:nvSpPr>
        <p:spPr>
          <a:xfrm>
            <a:off x="603504" y="2752344"/>
            <a:ext cx="109728" cy="10972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76809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6809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几行 · 坐实「BM25 追平」motivation</a:t>
            </a:r>
            <a:endParaRPr lang="en-US" sz="760" dirty="0"/>
          </a:p>
        </p:txBody>
      </p:sp>
      <p:sp>
        <p:nvSpPr>
          <p:cNvPr id="15" name="Shape 13"/>
          <p:cNvSpPr/>
          <p:nvPr/>
        </p:nvSpPr>
        <p:spPr>
          <a:xfrm>
            <a:off x="329184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91840" y="1417320"/>
            <a:ext cx="2560320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17" name="Text 15"/>
          <p:cNvSpPr/>
          <p:nvPr/>
        </p:nvSpPr>
        <p:spPr>
          <a:xfrm>
            <a:off x="343814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RL 脚手架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43814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有开源代码可 fork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438144" y="220370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0" name="Text 18"/>
          <p:cNvSpPr/>
          <p:nvPr/>
        </p:nvSpPr>
        <p:spPr>
          <a:xfrm>
            <a:off x="360273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MemAgent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360273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fork → per-speaker 多流，最省力 RL 起点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3438144" y="2752344"/>
            <a:ext cx="109728" cy="109728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3" name="Text 21"/>
          <p:cNvSpPr/>
          <p:nvPr/>
        </p:nvSpPr>
        <p:spPr>
          <a:xfrm>
            <a:off x="360273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LightMem（可选）</a:t>
            </a:r>
            <a:endParaRPr lang="en-US" sz="980" dirty="0"/>
          </a:p>
        </p:txBody>
      </p:sp>
      <p:sp>
        <p:nvSpPr>
          <p:cNvPr id="24" name="Text 22"/>
          <p:cNvSpPr/>
          <p:nvPr/>
        </p:nvSpPr>
        <p:spPr>
          <a:xfrm>
            <a:off x="360273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强近期 training-free 对照</a:t>
            </a:r>
            <a:endParaRPr lang="en-US" sz="760" dirty="0"/>
          </a:p>
        </p:txBody>
      </p:sp>
      <p:sp>
        <p:nvSpPr>
          <p:cNvPr id="25" name="Shape 23"/>
          <p:cNvSpPr/>
          <p:nvPr/>
        </p:nvSpPr>
        <p:spPr>
          <a:xfrm>
            <a:off x="6126480" y="1417320"/>
            <a:ext cx="2560320" cy="239572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126480" y="1417320"/>
            <a:ext cx="2560320" cy="4206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7" name="Text 25"/>
          <p:cNvSpPr/>
          <p:nvPr/>
        </p:nvSpPr>
        <p:spPr>
          <a:xfrm>
            <a:off x="6272784" y="1417320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核心前身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72784" y="189280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无代码 · 须自实现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272784" y="220370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0" name="Text 28"/>
          <p:cNvSpPr/>
          <p:nvPr/>
        </p:nvSpPr>
        <p:spPr>
          <a:xfrm>
            <a:off x="6437376" y="213969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DeltaMem 奖励</a:t>
            </a:r>
            <a:endParaRPr lang="en-US" sz="980" dirty="0"/>
          </a:p>
        </p:txBody>
      </p:sp>
      <p:sp>
        <p:nvSpPr>
          <p:cNvPr id="31" name="Text 29"/>
          <p:cNvSpPr/>
          <p:nvPr/>
        </p:nvSpPr>
        <p:spPr>
          <a:xfrm>
            <a:off x="6437376" y="23591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贡献① 基础，先单独验证能分好坏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6272784" y="275234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3" name="Text 31"/>
          <p:cNvSpPr/>
          <p:nvPr/>
        </p:nvSpPr>
        <p:spPr>
          <a:xfrm>
            <a:off x="6437376" y="268833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Memory-R2 co-learn</a:t>
            </a:r>
            <a:endParaRPr lang="en-US" sz="980" dirty="0"/>
          </a:p>
        </p:txBody>
      </p:sp>
      <p:sp>
        <p:nvSpPr>
          <p:cNvPr id="34" name="Text 32"/>
          <p:cNvSpPr/>
          <p:nvPr/>
        </p:nvSpPr>
        <p:spPr>
          <a:xfrm>
            <a:off x="6437376" y="290779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贡献②；先 fact-extractor（命脉），LoGo 次之</a:t>
            </a:r>
            <a:endParaRPr lang="en-US" sz="760" dirty="0"/>
          </a:p>
        </p:txBody>
      </p:sp>
      <p:sp>
        <p:nvSpPr>
          <p:cNvPr id="35" name="Shape 33"/>
          <p:cNvSpPr/>
          <p:nvPr/>
        </p:nvSpPr>
        <p:spPr>
          <a:xfrm>
            <a:off x="6272784" y="3300984"/>
            <a:ext cx="109728" cy="109728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6" name="Text 34"/>
          <p:cNvSpPr/>
          <p:nvPr/>
        </p:nvSpPr>
        <p:spPr>
          <a:xfrm>
            <a:off x="6437376" y="3236976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Memory-R1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6437376" y="34564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76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outcome-only RL baseline（对照）</a:t>
            </a:r>
            <a:endParaRPr lang="en-US" sz="760" dirty="0"/>
          </a:p>
        </p:txBody>
      </p:sp>
      <p:sp>
        <p:nvSpPr>
          <p:cNvPr id="38" name="Shape 36"/>
          <p:cNvSpPr/>
          <p:nvPr/>
        </p:nvSpPr>
        <p:spPr>
          <a:xfrm>
            <a:off x="457200" y="3968496"/>
            <a:ext cx="8229600" cy="54864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3968496"/>
            <a:ext cx="54864" cy="54864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0" name="Text 38"/>
          <p:cNvSpPr/>
          <p:nvPr/>
        </p:nvSpPr>
        <p:spPr>
          <a:xfrm>
            <a:off x="640080" y="3968496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我的判断：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DDE6F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Mem0+BM25 坐实 benchmark / motivation → fork MemAgent 拿能训的 RL loop → 自实现 DeltaMem 奖励 + Memory-R2 的 fact-extractor。</a:t>
            </a:r>
            <a:pPr indent="0" marL="0">
              <a:lnSpc>
                <a:spcPct val="106000"/>
              </a:lnSpc>
              <a:buNone/>
            </a:pPr>
            <a:r>
              <a:rPr lang="en-US" sz="88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暂不优先：CoMAM / Mem-T / TreeMem / MemoryOS（cite 即可）。</a:t>
            </a:r>
            <a:endParaRPr lang="en-US" sz="880" dirty="0"/>
          </a:p>
        </p:txBody>
      </p:sp>
      <p:sp>
        <p:nvSpPr>
          <p:cNvPr id="41" name="Text 39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/ 12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A · 核心能力 case 速览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类「谁说了什么」难题（跨领域）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08176"/>
            <a:ext cx="54864" cy="13350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603504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03504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Alice:训练·Bob:数据·Carol:评测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603504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694944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谁评测?→Carol</a:t>
            </a:r>
            <a:endParaRPr lang="en-US" sz="740" dirty="0"/>
          </a:p>
        </p:txBody>
      </p:sp>
      <p:sp>
        <p:nvSpPr>
          <p:cNvPr id="11" name="Text 9"/>
          <p:cNvSpPr/>
          <p:nvPr/>
        </p:nvSpPr>
        <p:spPr>
          <a:xfrm>
            <a:off x="603504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企业协作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3285744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85744" y="1408176"/>
            <a:ext cx="54864" cy="133502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4" name="Text 12"/>
          <p:cNvSpPr/>
          <p:nvPr/>
        </p:nvSpPr>
        <p:spPr>
          <a:xfrm>
            <a:off x="3432048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跨说话人引用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432048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Alice:「Bob 想换工作」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32048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17" name="Text 15"/>
          <p:cNvSpPr/>
          <p:nvPr/>
        </p:nvSpPr>
        <p:spPr>
          <a:xfrm>
            <a:off x="3523488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想换?→是(Alice 转述)</a:t>
            </a:r>
            <a:endParaRPr lang="en-US" sz="740" dirty="0"/>
          </a:p>
        </p:txBody>
      </p:sp>
      <p:sp>
        <p:nvSpPr>
          <p:cNvPr id="18" name="Text 16"/>
          <p:cNvSpPr/>
          <p:nvPr/>
        </p:nvSpPr>
        <p:spPr>
          <a:xfrm>
            <a:off x="3432048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客服/合规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6114288" y="1408176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14288" y="1408176"/>
            <a:ext cx="54864" cy="133502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21" name="Text 19"/>
          <p:cNvSpPr/>
          <p:nvPr/>
        </p:nvSpPr>
        <p:spPr>
          <a:xfrm>
            <a:off x="6260592" y="1499616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260592" y="1792224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Alice:我妈住院·Carol:我妈退休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60592" y="2286000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352032" y="2286000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 妈?→退休</a:t>
            </a:r>
            <a:endParaRPr lang="en-US" sz="740" dirty="0"/>
          </a:p>
        </p:txBody>
      </p:sp>
      <p:sp>
        <p:nvSpPr>
          <p:cNvPr id="25" name="Text 23"/>
          <p:cNvSpPr/>
          <p:nvPr/>
        </p:nvSpPr>
        <p:spPr>
          <a:xfrm>
            <a:off x="6260592" y="2578608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医疗/教育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57200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9504"/>
            <a:ext cx="54864" cy="133502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Text 26"/>
          <p:cNvSpPr/>
          <p:nvPr/>
        </p:nvSpPr>
        <p:spPr>
          <a:xfrm>
            <a:off x="603504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冲突信念按人分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03504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 挺 PyTorch·Bob 坚持 JAX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03504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1" name="Text 29"/>
          <p:cNvSpPr/>
          <p:nvPr/>
        </p:nvSpPr>
        <p:spPr>
          <a:xfrm>
            <a:off x="694944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 倾向?→JAX</a:t>
            </a:r>
            <a:endParaRPr lang="en-US" sz="740" dirty="0"/>
          </a:p>
        </p:txBody>
      </p:sp>
      <p:sp>
        <p:nvSpPr>
          <p:cNvPr id="32" name="Text 30"/>
          <p:cNvSpPr/>
          <p:nvPr/>
        </p:nvSpPr>
        <p:spPr>
          <a:xfrm>
            <a:off x="603504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决策/多agent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3285744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85744" y="2889504"/>
            <a:ext cx="54864" cy="1335024"/>
          </a:xfrm>
          <a:prstGeom prst="rect">
            <a:avLst/>
          </a:prstGeom>
          <a:solidFill>
            <a:srgbClr val="0E7490"/>
          </a:solidFill>
          <a:ln/>
        </p:spPr>
      </p:sp>
      <p:sp>
        <p:nvSpPr>
          <p:cNvPr id="35" name="Text 33"/>
          <p:cNvSpPr/>
          <p:nvPr/>
        </p:nvSpPr>
        <p:spPr>
          <a:xfrm>
            <a:off x="3432048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per-speaker 时序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432048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Alice:A 司→(T20)跳 B 司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3432048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38" name="Text 36"/>
          <p:cNvSpPr/>
          <p:nvPr/>
        </p:nvSpPr>
        <p:spPr>
          <a:xfrm>
            <a:off x="3523488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现在?→B(之前 A)</a:t>
            </a:r>
            <a:endParaRPr lang="en-US" sz="740" dirty="0"/>
          </a:p>
        </p:txBody>
      </p:sp>
      <p:sp>
        <p:nvSpPr>
          <p:cNvPr id="39" name="Text 37"/>
          <p:cNvSpPr/>
          <p:nvPr/>
        </p:nvSpPr>
        <p:spPr>
          <a:xfrm>
            <a:off x="3432048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CRM/陪伴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6114288" y="2889504"/>
            <a:ext cx="2572512" cy="1335024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14288" y="2889504"/>
            <a:ext cx="54864" cy="13350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2" name="Text 40"/>
          <p:cNvSpPr/>
          <p:nvPr/>
        </p:nvSpPr>
        <p:spPr>
          <a:xfrm>
            <a:off x="6260592" y="2980944"/>
            <a:ext cx="229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群体vs个体+隐私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260592" y="3273552"/>
            <a:ext cx="2298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群:Slack·Alice 私下爱飞书·在看机会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6260592" y="3767328"/>
            <a:ext cx="2279904" cy="27432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45" name="Text 43"/>
          <p:cNvSpPr/>
          <p:nvPr/>
        </p:nvSpPr>
        <p:spPr>
          <a:xfrm>
            <a:off x="6352032" y="3767328"/>
            <a:ext cx="213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74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项目?→Slack；Carol 问→不泄漏</a:t>
            </a:r>
            <a:endParaRPr lang="en-US" sz="740" dirty="0"/>
          </a:p>
        </p:txBody>
      </p:sp>
      <p:sp>
        <p:nvSpPr>
          <p:cNvPr id="46" name="Text 44"/>
          <p:cNvSpPr/>
          <p:nvPr/>
        </p:nvSpPr>
        <p:spPr>
          <a:xfrm>
            <a:off x="6260592" y="4059936"/>
            <a:ext cx="2298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社交/合规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/ 12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B · 典型 case 详解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两个例子：现有系统为何错、我们怎么对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45720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单流混淆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85953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926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Alice：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模型训练我来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5720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953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926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Bob：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数据清洗交给我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5953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926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Carol：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我盯评测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720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谁负责评测? → Carol</a:t>
            </a:r>
            <a:endParaRPr lang="en-US" sz="880" dirty="0"/>
          </a:p>
        </p:txBody>
      </p:sp>
      <p:sp>
        <p:nvSpPr>
          <p:cNvPr id="20" name="Shape 18"/>
          <p:cNvSpPr/>
          <p:nvPr/>
        </p:nvSpPr>
        <p:spPr>
          <a:xfrm>
            <a:off x="45720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22" name="Text 20"/>
          <p:cNvSpPr/>
          <p:nvPr/>
        </p:nvSpPr>
        <p:spPr>
          <a:xfrm>
            <a:off x="60350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现有系统压成一条 user，分工糊成一团，问归属只能猜。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5720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720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5" name="Text 23"/>
          <p:cNvSpPr/>
          <p:nvPr/>
        </p:nvSpPr>
        <p:spPr>
          <a:xfrm>
            <a:off x="60350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speaker_id 动作 + per_speaker_core + 分桶奖励 → 每条事实锚定到人。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709160" y="141732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同类实体不合并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709160" y="1746504"/>
            <a:ext cx="310896" cy="310896"/>
          </a:xfrm>
          <a:prstGeom prst="ellipse">
            <a:avLst/>
          </a:prstGeom>
          <a:solidFill>
            <a:srgbClr val="0EA5C4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17465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111496" y="17373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221224" y="17373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张医生：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我患者血糖高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09160" y="2203704"/>
            <a:ext cx="310896" cy="310896"/>
          </a:xfrm>
          <a:prstGeom prst="ellipse">
            <a:avLst/>
          </a:prstGeom>
          <a:solidFill>
            <a:srgbClr val="E08A1E"/>
          </a:solidFill>
          <a:ln/>
        </p:spPr>
      </p:sp>
      <p:sp>
        <p:nvSpPr>
          <p:cNvPr id="32" name="Text 30"/>
          <p:cNvSpPr/>
          <p:nvPr/>
        </p:nvSpPr>
        <p:spPr>
          <a:xfrm>
            <a:off x="4709160" y="22037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111496" y="21945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21224" y="21945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我接术后感染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709160" y="2660904"/>
            <a:ext cx="310896" cy="310896"/>
          </a:xfrm>
          <a:prstGeom prst="ellipse">
            <a:avLst/>
          </a:prstGeom>
          <a:solidFill>
            <a:srgbClr val="6D5BD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26609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111496" y="2651760"/>
            <a:ext cx="3575304" cy="36576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21224" y="2651760"/>
            <a:ext cx="3374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王医生：</a:t>
            </a:r>
            <a:pPr indent="0" marL="0">
              <a:buNone/>
            </a:pPr>
            <a:r>
              <a:rPr lang="en-US" sz="8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我患者心率不齐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4709160" y="3172968"/>
            <a:ext cx="3977640" cy="329184"/>
          </a:xfrm>
          <a:prstGeom prst="rect">
            <a:avLst/>
          </a:prstGeom>
          <a:solidFill>
            <a:srgbClr val="12183A"/>
          </a:solidFill>
          <a:ln/>
        </p:spPr>
      </p:sp>
      <p:sp>
        <p:nvSpPr>
          <p:cNvPr id="40" name="Text 38"/>
          <p:cNvSpPr/>
          <p:nvPr/>
        </p:nvSpPr>
        <p:spPr>
          <a:xfrm>
            <a:off x="4855464" y="3172968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 </a:t>
            </a:r>
            <a:pPr indent="0" marL="0">
              <a:buNone/>
            </a:pPr>
            <a:r>
              <a:rPr lang="en-US" sz="88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李医生的患者? → 术后感染</a:t>
            </a:r>
            <a:endParaRPr lang="en-US" sz="880" dirty="0"/>
          </a:p>
        </p:txBody>
      </p:sp>
      <p:sp>
        <p:nvSpPr>
          <p:cNvPr id="41" name="Shape 39"/>
          <p:cNvSpPr/>
          <p:nvPr/>
        </p:nvSpPr>
        <p:spPr>
          <a:xfrm>
            <a:off x="4709160" y="3611880"/>
            <a:ext cx="3977640" cy="420624"/>
          </a:xfrm>
          <a:prstGeom prst="rect">
            <a:avLst/>
          </a:prstGeom>
          <a:solidFill>
            <a:srgbClr val="FBE6E7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3611880"/>
            <a:ext cx="54864" cy="420624"/>
          </a:xfrm>
          <a:prstGeom prst="rect">
            <a:avLst/>
          </a:prstGeom>
          <a:solidFill>
            <a:srgbClr val="DC4A52"/>
          </a:solidFill>
          <a:ln/>
        </p:spPr>
      </p:sp>
      <p:sp>
        <p:nvSpPr>
          <p:cNvPr id="43" name="Text 41"/>
          <p:cNvSpPr/>
          <p:nvPr/>
        </p:nvSpPr>
        <p:spPr>
          <a:xfrm>
            <a:off x="4855464" y="3611880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DC4A5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多人都谈「我的患者」，同类实体易被合并；规模越大越糊。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709160" y="4123944"/>
            <a:ext cx="3977640" cy="420624"/>
          </a:xfrm>
          <a:prstGeom prst="rect">
            <a:avLst/>
          </a:prstGeom>
          <a:solidFill>
            <a:srgbClr val="E0F4F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709160" y="4123944"/>
            <a:ext cx="54864" cy="42062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46" name="Text 44"/>
          <p:cNvSpPr/>
          <p:nvPr/>
        </p:nvSpPr>
        <p:spPr>
          <a:xfrm>
            <a:off x="4855464" y="41239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00" b="1" dirty="0">
                <a:solidFill>
                  <a:srgbClr val="0E749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我们：</a:t>
            </a:r>
            <a:pPr indent="0" marL="0">
              <a:lnSpc>
                <a:spcPct val="102000"/>
              </a:lnSpc>
              <a:buNone/>
            </a:pPr>
            <a:r>
              <a:rPr lang="en-US" sz="80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 s_owner + per-speaker 分层，结构上禁止跨人 merge。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12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C · 方法 / 训练（备查）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系统数据流 + 三阶段训练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463040"/>
            <a:ext cx="1783080" cy="329184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A_mem 写记忆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85216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新发言→记忆动作</a:t>
            </a:r>
            <a:endParaRPr lang="en-US" sz="82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76856" y="1792224"/>
            <a:ext cx="265176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578608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578608" y="1463040"/>
            <a:ext cx="1783080" cy="329184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12" name="Text 9"/>
          <p:cNvSpPr/>
          <p:nvPr/>
        </p:nvSpPr>
        <p:spPr>
          <a:xfrm>
            <a:off x="2688336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5 层记忆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706624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按说话人分桶</a:t>
            </a:r>
            <a:endParaRPr lang="en-US" sz="82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792224"/>
            <a:ext cx="265176" cy="23774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700016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4700016" y="1463040"/>
            <a:ext cx="1783080" cy="3291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17" name="Text 13"/>
          <p:cNvSpPr/>
          <p:nvPr/>
        </p:nvSpPr>
        <p:spPr>
          <a:xfrm>
            <a:off x="4809744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A_ret 检索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4828032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可访问+相关</a:t>
            </a:r>
            <a:endParaRPr lang="en-US" sz="82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792224"/>
            <a:ext cx="265176" cy="237744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821424" y="1463040"/>
            <a:ext cx="178308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821424" y="1463040"/>
            <a:ext cx="1783080" cy="32918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Text 17"/>
          <p:cNvSpPr/>
          <p:nvPr/>
        </p:nvSpPr>
        <p:spPr>
          <a:xfrm>
            <a:off x="6931152" y="146304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A_ans 回答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6949440" y="1883664"/>
            <a:ext cx="15453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2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适配提问者</a:t>
            </a:r>
            <a:endParaRPr lang="en-US" sz="820" dirty="0"/>
          </a:p>
        </p:txBody>
      </p:sp>
      <p:sp>
        <p:nvSpPr>
          <p:cNvPr id="24" name="Text 19"/>
          <p:cNvSpPr/>
          <p:nvPr/>
        </p:nvSpPr>
        <p:spPr>
          <a:xfrm>
            <a:off x="457200" y="2670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三阶段训练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57200" y="2944368"/>
            <a:ext cx="54864" cy="841248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27" name="Text 22"/>
          <p:cNvSpPr/>
          <p:nvPr/>
        </p:nvSpPr>
        <p:spPr>
          <a:xfrm>
            <a:off x="60350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1 · SFT 热启动</a:t>
            </a:r>
            <a:endParaRPr lang="en-US" sz="1050" dirty="0"/>
          </a:p>
        </p:txBody>
      </p:sp>
      <p:sp>
        <p:nvSpPr>
          <p:cNvPr id="28" name="Text 23"/>
          <p:cNvSpPr/>
          <p:nvPr/>
        </p:nvSpPr>
        <p:spPr>
          <a:xfrm>
            <a:off x="60350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role-masked SFT；attribution F1&gt;50%</a:t>
            </a:r>
            <a:endParaRPr lang="en-US" sz="830" dirty="0"/>
          </a:p>
        </p:txBody>
      </p:sp>
      <p:sp>
        <p:nvSpPr>
          <p:cNvPr id="29" name="Shape 24"/>
          <p:cNvSpPr/>
          <p:nvPr/>
        </p:nvSpPr>
        <p:spPr>
          <a:xfrm>
            <a:off x="329184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3291840" y="2944368"/>
            <a:ext cx="54864" cy="841248"/>
          </a:xfrm>
          <a:prstGeom prst="rect">
            <a:avLst/>
          </a:prstGeom>
          <a:solidFill>
            <a:srgbClr val="6D5BD0"/>
          </a:solidFill>
          <a:ln/>
        </p:spPr>
      </p:sp>
      <p:sp>
        <p:nvSpPr>
          <p:cNvPr id="31" name="Text 26"/>
          <p:cNvSpPr/>
          <p:nvPr/>
        </p:nvSpPr>
        <p:spPr>
          <a:xfrm>
            <a:off x="343814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D5BD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2 · Joint RL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343814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SpeakerMem-GRPO；K=3→5→8 课程</a:t>
            </a:r>
            <a:endParaRPr lang="en-US" sz="830" dirty="0"/>
          </a:p>
        </p:txBody>
      </p:sp>
      <p:sp>
        <p:nvSpPr>
          <p:cNvPr id="33" name="Shape 28"/>
          <p:cNvSpPr/>
          <p:nvPr/>
        </p:nvSpPr>
        <p:spPr>
          <a:xfrm>
            <a:off x="6126480" y="2944368"/>
            <a:ext cx="2560320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4" name="Shape 29"/>
          <p:cNvSpPr/>
          <p:nvPr/>
        </p:nvSpPr>
        <p:spPr>
          <a:xfrm>
            <a:off x="6126480" y="2944368"/>
            <a:ext cx="54864" cy="841248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35" name="Text 30"/>
          <p:cNvSpPr/>
          <p:nvPr/>
        </p:nvSpPr>
        <p:spPr>
          <a:xfrm>
            <a:off x="6272784" y="305409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08A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Stage 3 · 端到端</a:t>
            </a:r>
            <a:endParaRPr lang="en-US" sz="1050" dirty="0"/>
          </a:p>
        </p:txBody>
      </p:sp>
      <p:sp>
        <p:nvSpPr>
          <p:cNvPr id="36" name="Text 31"/>
          <p:cNvSpPr/>
          <p:nvPr/>
        </p:nvSpPr>
        <p:spPr>
          <a:xfrm>
            <a:off x="6272784" y="3328416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3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 benchmark 混合，回填指标</a:t>
            </a:r>
            <a:endParaRPr lang="en-US" sz="830" dirty="0"/>
          </a:p>
        </p:txBody>
      </p:sp>
      <p:sp>
        <p:nvSpPr>
          <p:cNvPr id="37" name="Shape 32"/>
          <p:cNvSpPr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solidFill>
            <a:srgbClr val="12183A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457200" y="4023360"/>
            <a:ext cx="54864" cy="457200"/>
          </a:xfrm>
          <a:prstGeom prst="rect">
            <a:avLst/>
          </a:prstGeom>
          <a:solidFill>
            <a:srgbClr val="0EA5C4"/>
          </a:solidFill>
          <a:ln/>
        </p:spPr>
      </p:sp>
      <p:sp>
        <p:nvSpPr>
          <p:cNvPr id="39" name="Text 34"/>
          <p:cNvSpPr/>
          <p:nvPr/>
        </p:nvSpPr>
        <p:spPr>
          <a:xfrm>
            <a:off x="640080" y="402336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EA5C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奖励 </a:t>
            </a:r>
            <a:pPr indent="0" marL="0">
              <a:buNone/>
            </a:pPr>
            <a:r>
              <a:rPr lang="en-US" sz="900" dirty="0">
                <a:solidFill>
                  <a:srgbClr val="DD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= 0.5·R_task + 0.8·R_state + 0.3·R_attr + 0.2·R_aud + …  </a:t>
            </a:r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（R_state 稠密、按说话人分桶，主导）</a:t>
            </a:r>
            <a:endParaRPr lang="en-US" sz="900" dirty="0"/>
          </a:p>
        </p:txBody>
      </p:sp>
      <p:sp>
        <p:nvSpPr>
          <p:cNvPr id="40" name="Text 35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41" name="Text 36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12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137160" cy="13716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38328"/>
            <a:ext cx="8001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9F6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P4 · 复现进度（DeepSeek 实测，2026-06-09）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76656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三数据集全量：连关键词检索都很能打</a:t>
            </a:r>
            <a:endParaRPr lang="en-US" sz="2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82296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731520"/>
                <a:gridCol w="1417320"/>
                <a:gridCol w="640080"/>
                <a:gridCol w="640080"/>
                <a:gridCol w="301752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Benchmark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judge准确率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EM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关键发现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183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GroupMemBench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745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13.8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25.0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追平论文最强 46%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SocialMemBench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1031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28.6%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3.6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15.7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DC4A5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&gt; 开源记忆系统 0.12–0.18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1E293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EverMemBench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2400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b="1" dirty="0">
                          <a:solidFill>
                            <a:srgbClr val="0E749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52.5%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4.8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9.9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334155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MC 64% / 开放式 27%(≈oracle)</a:t>
                      </a:r>
                      <a:endParaRPr lang="en-US" sz="86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3246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i="1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指标统一：bench_loaders 把三数据集归一化为同一 schema(多选选项拼进问题)，judge准确率(主)/EM/F1/per-category 一套代码通吃；BM25+DeepSeek，16 并发。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57200" y="3703320"/>
            <a:ext cx="8229600" cy="786384"/>
          </a:xfrm>
          <a:prstGeom prst="rect">
            <a:avLst/>
          </a:prstGeom>
          <a:solidFill>
            <a:srgbClr val="FBEFD9"/>
          </a:solidFill>
          <a:ln/>
          <a:effectLst>
            <a:outerShdw sx="100000" sy="100000" kx="0" ky="0" algn="bl" rotWithShape="0" blurRad="101600" dist="38100" dir="8100000">
              <a:srgbClr val="0F172A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3703320"/>
            <a:ext cx="54864" cy="786384"/>
          </a:xfrm>
          <a:prstGeom prst="rect">
            <a:avLst/>
          </a:prstGeom>
          <a:solidFill>
            <a:srgbClr val="E08A1E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703320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b="1" dirty="0">
                <a:solidFill>
                  <a:srgbClr val="B4530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motivation 坐实：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BM25 单凭关键词就追平/超过现有记忆系统 → 现有系统在多方场景把 speaker-/audience-grounded 结构线索抹掉了。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6474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Mem0 全量(并行抽取)对比进行中。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457200" y="48326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SpeakerMem-R1 · 问题导向汇报 V2 · 2026-06-03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046720" y="483260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SpeakerMem-R1 汇报 V2</dc:title>
  <dc:subject>PptxGenJS Presentation</dc:subject>
  <dc:creator>SpeakerMem-R1</dc:creator>
  <cp:lastModifiedBy>SpeakerMem-R1</cp:lastModifiedBy>
  <cp:revision>1</cp:revision>
  <dcterms:created xsi:type="dcterms:W3CDTF">2026-06-09T09:03:30Z</dcterms:created>
  <dcterms:modified xsi:type="dcterms:W3CDTF">2026-06-09T09:03:30Z</dcterms:modified>
</cp:coreProperties>
</file>